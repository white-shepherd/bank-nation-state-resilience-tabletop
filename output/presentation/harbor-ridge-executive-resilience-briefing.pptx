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b7414015284d29" /><Relationship Type="http://schemas.openxmlformats.org/officeDocument/2006/relationships/extended-properties" Target="/docProps/app.xml" Id="Rb1bda36afdd64eb0" /><Relationship Type="http://schemas.openxmlformats.org/officeDocument/2006/relationships/officeDocument" Target="/ppt/presentation.xml" Id="Rf19ea64ab49748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62cce74c6d4e7d"/>
  </p:sldMasterIdLst>
  <p:notesMasterIdLst>
    <p:notesMasterId xmlns:r="http://schemas.openxmlformats.org/officeDocument/2006/relationships" r:id="Rbfa9760e5cab416a"/>
  </p:notesMasterIdLst>
  <p:sldIdLst>
    <p:sldId xmlns:r="http://schemas.openxmlformats.org/officeDocument/2006/relationships" id="256" r:id="R171c26f093c24e0c"/>
    <p:sldId xmlns:r="http://schemas.openxmlformats.org/officeDocument/2006/relationships" id="257" r:id="Rb7d1429a364544d6"/>
    <p:sldId xmlns:r="http://schemas.openxmlformats.org/officeDocument/2006/relationships" id="258" r:id="R7fef1751800a4baa"/>
    <p:sldId xmlns:r="http://schemas.openxmlformats.org/officeDocument/2006/relationships" id="259" r:id="R830b4ca3e98b48cf"/>
    <p:sldId xmlns:r="http://schemas.openxmlformats.org/officeDocument/2006/relationships" id="260" r:id="R3fd092c7bf464776"/>
    <p:sldId xmlns:r="http://schemas.openxmlformats.org/officeDocument/2006/relationships" id="261" r:id="Rd13d5cb43d454c68"/>
    <p:sldId xmlns:r="http://schemas.openxmlformats.org/officeDocument/2006/relationships" id="262" r:id="Reac8d730e37e4fca"/>
    <p:sldId xmlns:r="http://schemas.openxmlformats.org/officeDocument/2006/relationships" id="263" r:id="R0044cff5b15e4b3c"/>
    <p:sldId xmlns:r="http://schemas.openxmlformats.org/officeDocument/2006/relationships" id="264" r:id="R29897869b3d44aeb"/>
    <p:sldId xmlns:r="http://schemas.openxmlformats.org/officeDocument/2006/relationships" id="265" r:id="R3df70cca0c564a06"/>
    <p:sldId xmlns:r="http://schemas.openxmlformats.org/officeDocument/2006/relationships" id="266" r:id="Rb3cdeb7c1e9c4219"/>
    <p:sldId xmlns:r="http://schemas.openxmlformats.org/officeDocument/2006/relationships" id="267" r:id="Reb5eab2a77654c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30036f35614e7d" /><Relationship Type="http://schemas.openxmlformats.org/officeDocument/2006/relationships/slideMaster" Target="/ppt/slideMasters/slideMaster1.xml" Id="R6562cce74c6d4e7d" /><Relationship Type="http://schemas.openxmlformats.org/officeDocument/2006/relationships/notesMaster" Target="/ppt/notesMasters/notesMaster1.xml" Id="Rbfa9760e5cab416a" /><Relationship Type="http://schemas.openxmlformats.org/officeDocument/2006/relationships/presProps" Target="/ppt/presProps.xml" Id="R8ccc3619957d4d12" /><Relationship Type="http://schemas.openxmlformats.org/officeDocument/2006/relationships/tableStyles" Target="/ppt/tableStyles.xml" Id="Rfa0f1b90621f4a6b" /><Relationship Type="http://schemas.openxmlformats.org/officeDocument/2006/relationships/slide" Target="/ppt/slides/slide1.xml" Id="R171c26f093c24e0c" /><Relationship Type="http://schemas.openxmlformats.org/officeDocument/2006/relationships/slide" Target="/ppt/slides/slide2.xml" Id="Rb7d1429a364544d6" /><Relationship Type="http://schemas.openxmlformats.org/officeDocument/2006/relationships/slide" Target="/ppt/slides/slide3.xml" Id="R7fef1751800a4baa" /><Relationship Type="http://schemas.openxmlformats.org/officeDocument/2006/relationships/slide" Target="/ppt/slides/slide4.xml" Id="R830b4ca3e98b48cf" /><Relationship Type="http://schemas.openxmlformats.org/officeDocument/2006/relationships/slide" Target="/ppt/slides/slide5.xml" Id="R3fd092c7bf464776" /><Relationship Type="http://schemas.openxmlformats.org/officeDocument/2006/relationships/slide" Target="/ppt/slides/slide6.xml" Id="Rd13d5cb43d454c68" /><Relationship Type="http://schemas.openxmlformats.org/officeDocument/2006/relationships/slide" Target="/ppt/slides/slide7.xml" Id="Reac8d730e37e4fca" /><Relationship Type="http://schemas.openxmlformats.org/officeDocument/2006/relationships/slide" Target="/ppt/slides/slide8.xml" Id="R0044cff5b15e4b3c" /><Relationship Type="http://schemas.openxmlformats.org/officeDocument/2006/relationships/slide" Target="/ppt/slides/slide9.xml" Id="R29897869b3d44aeb" /><Relationship Type="http://schemas.openxmlformats.org/officeDocument/2006/relationships/slide" Target="/ppt/slides/slide10.xml" Id="R3df70cca0c564a06" /><Relationship Type="http://schemas.openxmlformats.org/officeDocument/2006/relationships/slide" Target="/ppt/slides/slide11.xml" Id="Rb3cdeb7c1e9c4219" /><Relationship Type="http://schemas.openxmlformats.org/officeDocument/2006/relationships/slide" Target="/ppt/slides/slide12.xml" Id="Reb5eab2a77654c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f50db8fc5741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3271067a8e40df" /><Relationship Type="http://schemas.openxmlformats.org/officeDocument/2006/relationships/notesMaster" Target="/ppt/notesMasters/notesMaster1.xml" Id="R08f53a3dee9b43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e1cabb4afe422b" /><Relationship Type="http://schemas.openxmlformats.org/officeDocument/2006/relationships/notesMaster" Target="/ppt/notesMasters/notesMaster1.xml" Id="R0d09595265694e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f8ad2ac6fa4228" /><Relationship Type="http://schemas.openxmlformats.org/officeDocument/2006/relationships/notesMaster" Target="/ppt/notesMasters/notesMaster1.xml" Id="R8365951b37e042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83cab676684459" /><Relationship Type="http://schemas.openxmlformats.org/officeDocument/2006/relationships/notesMaster" Target="/ppt/notesMasters/notesMaster1.xml" Id="R8f0029da290b47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ab73b2abe4b02" /><Relationship Type="http://schemas.openxmlformats.org/officeDocument/2006/relationships/notesMaster" Target="/ppt/notesMasters/notesMaster1.xml" Id="R15f3d6b1dfe74d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fed8e7c7c54860" /><Relationship Type="http://schemas.openxmlformats.org/officeDocument/2006/relationships/notesMaster" Target="/ppt/notesMasters/notesMaster1.xml" Id="R80c4605a305f4c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1cb992456a4d53" /><Relationship Type="http://schemas.openxmlformats.org/officeDocument/2006/relationships/notesMaster" Target="/ppt/notesMasters/notesMaster1.xml" Id="R7cbb3ea3961a44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2d843a836d49d1" /><Relationship Type="http://schemas.openxmlformats.org/officeDocument/2006/relationships/notesMaster" Target="/ppt/notesMasters/notesMaster1.xml" Id="Rc2e79e59916244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a0c6311f3e4eb5" /><Relationship Type="http://schemas.openxmlformats.org/officeDocument/2006/relationships/notesMaster" Target="/ppt/notesMasters/notesMaster1.xml" Id="R8ceb8414ef704b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1ba52b28654eb0" /><Relationship Type="http://schemas.openxmlformats.org/officeDocument/2006/relationships/notesMaster" Target="/ppt/notesMasters/notesMaster1.xml" Id="Rcbc59973f40c43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b58abaf7814cad" /><Relationship Type="http://schemas.openxmlformats.org/officeDocument/2006/relationships/notesMaster" Target="/ppt/notesMasters/notesMaster1.xml" Id="R415ff17350064b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79e853d52543a1" /><Relationship Type="http://schemas.openxmlformats.org/officeDocument/2006/relationships/notesMaster" Target="/ppt/notesMasters/notesMaster1.xml" Id="R1f6d097679db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c0e4ab7d447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dfc1a5214b450d" /><Relationship Type="http://schemas.openxmlformats.org/officeDocument/2006/relationships/slideLayout" Target="/ppt/slideLayouts/slideLayout1.xml" Id="R382dd6b447144b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2dd6b447144b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691ceada1463b" /><Relationship Type="http://schemas.openxmlformats.org/officeDocument/2006/relationships/notesSlide" Target="/ppt/notesSlides/notesSlide1.xml" Id="Rafc111473cfc42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9c7b905f6492f" /><Relationship Type="http://schemas.openxmlformats.org/officeDocument/2006/relationships/notesSlide" Target="/ppt/notesSlides/notesSlide2.xml" Id="Re7cc75af44454d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a401601264cd1" /><Relationship Type="http://schemas.openxmlformats.org/officeDocument/2006/relationships/notesSlide" Target="/ppt/notesSlides/notesSlide3.xml" Id="Rcf7d3bf300c140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a0a2720c743ea" /><Relationship Type="http://schemas.openxmlformats.org/officeDocument/2006/relationships/notesSlide" Target="/ppt/notesSlides/notesSlide4.xml" Id="Ra3fe81ae52d147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9b767d7d74fa5" /><Relationship Type="http://schemas.openxmlformats.org/officeDocument/2006/relationships/notesSlide" Target="/ppt/notesSlides/notesSlide5.xml" Id="R2d2b3e723e5241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0aef2999b4742" /><Relationship Type="http://schemas.openxmlformats.org/officeDocument/2006/relationships/notesSlide" Target="/ppt/notesSlides/notesSlide6.xml" Id="R28223242417f41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0b87b21e04b89" /><Relationship Type="http://schemas.openxmlformats.org/officeDocument/2006/relationships/notesSlide" Target="/ppt/notesSlides/notesSlide7.xml" Id="R93864b3cc88b40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634b4a2944fb2" /><Relationship Type="http://schemas.openxmlformats.org/officeDocument/2006/relationships/notesSlide" Target="/ppt/notesSlides/notesSlide8.xml" Id="R059e41aa32bc4e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f912d78b44151" /><Relationship Type="http://schemas.openxmlformats.org/officeDocument/2006/relationships/notesSlide" Target="/ppt/notesSlides/notesSlide9.xml" Id="R82e93b12097044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0112140f24b10" /><Relationship Type="http://schemas.openxmlformats.org/officeDocument/2006/relationships/notesSlide" Target="/ppt/notesSlides/notesSlide10.xml" Id="R43ccbfc113a848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45f24a3514c55" /><Relationship Type="http://schemas.openxmlformats.org/officeDocument/2006/relationships/notesSlide" Target="/ppt/notesSlides/notesSlide11.xml" Id="Rd99187cdbb8f43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9220146bd4906" /><Relationship Type="http://schemas.openxmlformats.org/officeDocument/2006/relationships/notesSlide" Target="/ppt/notesSlides/notesSlide12.xml" Id="R82e48c7cb75748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6B159-6523-49E6-97E3-F0EFC0F6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A4B25-3F7A-45CE-953C-27AA3EBA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PURPOSE   01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2BD1AEB7-C077-41CF-936A-1341D6E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Shared control planes turn isolated outages into enterprise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FE9F5-7B9C-43AD-924A-1632C0A3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Board resilience briefing | Harbor Ridge Bank | fictional exercise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94859-AD47-4B7E-806D-0AADB727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25D1E-EE1E-4E19-A591-C949C4BD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0">
            <a:solidFill>
              <a:srgbClr val="112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1F980-D0AC-45F8-B246-9999A1E0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994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CONTROL PLANE  →  SERVICE CONTINUITY  →  TRUSTED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5E164-820D-4DB1-A4AA-957AC892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FD1DB"/>
                </a:solidFill>
              </a:defRPr>
            </a:pPr>
            <a:r>
              <a:rPr sz="1500" b="0">
                <a:solidFill>
                  <a:srgbClr val="BFD1DB"/>
                </a:solidFill>
              </a:rPr>
              <a:t>A decision briefing for resilience investment and crisis governance</a:t>
            </a:r>
          </a:p>
        </p:txBody>
      </p:sp>
    </p:spTree>
    <p:extLst>
      <p:ext uri="{BB962C8B-B14F-4D97-AF65-F5344CB8AC3E}">
        <p14:creationId xmlns:p14="http://schemas.microsoft.com/office/powerpoint/2010/main" val="514419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3E0EA-F43C-40DF-A923-09BF9B8A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AFC4C-BC52-4839-9956-9A547B45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EXECUTIVE SUMMARY   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BE389E82-91A6-41B7-A4DC-D7C09C62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Four management choices determine whether disruption becomes customer harm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F3C2F-1B3C-4E00-8A21-A995F81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Protect identity, preserve transaction integrity, sustain minimum viable payments, and recover independently.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B2A44-68E7-47B2-BCC4-C7A5CB4A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ADD68-7AB0-47FA-ABD6-82DB1E7A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AAEAA-3E5D-4371-B601-AF08607F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Identity is the largest declared shared dependency.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32BAC-A41F-475C-A87B-D9D32216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FA6EE-DC42-4DA4-A207-48EECCC7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Availability is not evidence that balances or journals are trustworthy.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9C2F6-B03B-4F7C-AE1F-8AF31926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ED559-1D9F-48C5-B378-865D86DC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Recovery must work without production credentials, name resolution, or monitoring.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1803B-DD53-4D2E-988A-C22D33B4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BAAFE-6B87-41B6-9EEE-45A92755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Decision rights and alternates must be explicit before a timed crisis.</a:t>
            </a:r>
          </a:p>
        </p:txBody>
      </p:sp>
    </p:spTree>
    <p:extLst>
      <p:ext uri="{BB962C8B-B14F-4D97-AF65-F5344CB8AC3E}">
        <p14:creationId xmlns:p14="http://schemas.microsoft.com/office/powerpoint/2010/main" val="804326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3D8954-D8FF-46BD-ABFF-A5F5D7C5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860D2-AC34-4905-87BB-21166D0C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OPERATING MODEL   03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21B66602-01E4-46DC-B85D-2BF5DD74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Critical services depend on a concentrated set of shared control planes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D18D8-B488-4529-B68D-B50E5F31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16 services are connected through declared business, technology, security, people, third-party, and recovery relationships.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32B12-ADE3-448F-A1A2-A5840A7D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7FA51-45B6-4B72-8B2E-FF925A34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6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6E31E-A387-48AC-A847-9B82773C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243A"/>
                </a:solidFill>
              </a:defRPr>
            </a:pPr>
            <a:r>
              <a:rPr sz="1425" b="1">
                <a:solidFill>
                  <a:srgbClr val="11243A"/>
                </a:solidFill>
              </a:rPr>
              <a:t>Customer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AA124-3917-4FDD-B30F-259E47E9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86150"/>
            <a:ext cx="3810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879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5D56C-BFA4-4F61-9C99-05C21024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36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78805-8065-430C-AB23-E8770920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243A"/>
                </a:solidFill>
              </a:defRPr>
            </a:pPr>
            <a:r>
              <a:rPr sz="1425" b="1">
                <a:solidFill>
                  <a:srgbClr val="11243A"/>
                </a:solidFill>
              </a:rPr>
              <a:t>Money movement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2D8B2-001F-4A45-8630-E31271DA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86150"/>
            <a:ext cx="3810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879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968BA-D33D-48CB-99EF-38F39118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36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C0E32-4019-448F-B26C-541561D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243A"/>
                </a:solidFill>
              </a:defRPr>
            </a:pPr>
            <a:r>
              <a:rPr sz="1425" b="1">
                <a:solidFill>
                  <a:srgbClr val="11243A"/>
                </a:solidFill>
              </a:rPr>
              <a:t>Control &amp; 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84B05-69DE-4209-9C63-921D1ACB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86150"/>
            <a:ext cx="3810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879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92C78-9120-4D33-B18B-3167079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236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9AFCA-90D1-4376-B56C-D2ABF627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243A"/>
                </a:solidFill>
              </a:defRPr>
            </a:pPr>
            <a:r>
              <a:rPr sz="1425" b="1">
                <a:solidFill>
                  <a:srgbClr val="11243A"/>
                </a:solidFill>
              </a:rPr>
              <a:t>Crisis &amp; 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5E2FE-45C3-4BBB-9C14-9DE745B3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86150"/>
            <a:ext cx="3810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879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BBDF7-7208-4FED-B85D-CCDD5E03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A63D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44681-62F2-41F6-BD1F-02B9D792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43A"/>
                </a:solidFill>
              </a:defRPr>
            </a:pPr>
            <a:r>
              <a:rPr sz="1125" b="1">
                <a:solidFill>
                  <a:srgbClr val="11243A"/>
                </a:solidFill>
              </a:rPr>
              <a:t>Enterprise identity provider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99BD4-6813-43E7-B2C4-AB1AB5D6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63D40"/>
                </a:solidFill>
              </a:defRPr>
            </a:pPr>
            <a:r>
              <a:rPr sz="2250" b="1">
                <a:solidFill>
                  <a:srgbClr val="A63D40"/>
                </a:solidFill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28801-7F21-4064-9EE4-AFC942B3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critical relationships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3061A-351A-49BF-B1F5-36A886C8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91000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DB762-4D64-4613-A597-B722D226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053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43A"/>
                </a:solidFill>
              </a:defRPr>
            </a:pPr>
            <a:r>
              <a:rPr sz="1125" b="1">
                <a:solidFill>
                  <a:srgbClr val="11243A"/>
                </a:solidFill>
              </a:rPr>
              <a:t>Backup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23E20-8E8B-405E-A83A-E8E7A628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7202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8324"/>
                </a:solidFill>
              </a:defRPr>
            </a:pPr>
            <a:r>
              <a:rPr sz="2250" b="1">
                <a:solidFill>
                  <a:srgbClr val="C98324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0B775-B509-45AB-B7FE-ADCFAA20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19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critical relationships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2FBB8-7376-40B7-8FF0-DB273A4F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91000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4D0D8-3942-4B56-AEAD-082C028D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053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43A"/>
                </a:solidFill>
              </a:defRPr>
            </a:pPr>
            <a:r>
              <a:rPr sz="1125" b="1">
                <a:solidFill>
                  <a:srgbClr val="11243A"/>
                </a:solidFill>
              </a:rPr>
              <a:t>Clean-room recovery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B1B3D8-C1A1-47C1-A1AB-C541B7D2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7202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8324"/>
                </a:solidFill>
              </a:defRPr>
            </a:pPr>
            <a:r>
              <a:rPr sz="2250" b="1">
                <a:solidFill>
                  <a:srgbClr val="C98324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E5E78-0C1B-421E-80BF-06D4B99A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19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critical relationships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C27C33-9751-4033-A594-4B150B2A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393A6E-AB53-4B4C-BD66-25F0B126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053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43A"/>
                </a:solidFill>
              </a:defRPr>
            </a:pPr>
            <a:r>
              <a:rPr sz="1125" b="1">
                <a:solidFill>
                  <a:srgbClr val="11243A"/>
                </a:solidFill>
              </a:rPr>
              <a:t>Database-management plane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5F7C98-86F3-4A4F-9F6F-8DF71319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7202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8324"/>
                </a:solidFill>
              </a:defRPr>
            </a:pPr>
            <a:r>
              <a:rPr sz="2250" b="1">
                <a:solidFill>
                  <a:srgbClr val="C98324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1D94D0-1DD6-49BB-8692-08BCFF13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9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critical relationships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CDAF0C-FA72-408D-B206-F47A21E0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91000"/>
            <a:ext cx="1905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666C03-7C9D-41C1-B8D9-43970F9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243A"/>
                </a:solidFill>
              </a:defRPr>
            </a:pPr>
            <a:r>
              <a:rPr sz="1125" b="1">
                <a:solidFill>
                  <a:srgbClr val="11243A"/>
                </a:solidFill>
              </a:rPr>
              <a:t>Payment approval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5F797D-E23B-483E-BE8D-C4CAF159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7202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8324"/>
                </a:solidFill>
              </a:defRPr>
            </a:pPr>
            <a:r>
              <a:rPr sz="2250" b="1">
                <a:solidFill>
                  <a:srgbClr val="C98324"/>
                </a:solidFill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57E540-0239-4BB7-9839-2BA60807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196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A"/>
                </a:solidFill>
              </a:defRPr>
            </a:pPr>
            <a:r>
              <a:rPr sz="900" b="0">
                <a:solidFill>
                  <a:srgbClr val="5C6B7A"/>
                </a:solidFill>
              </a:rPr>
              <a:t>critical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860846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0C6C31-BB59-44EB-A088-9E00FB71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9D584-46FA-40B0-86C4-F61E4568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CONCENTRATION   04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6288ED39-4E41-4C11-B415-24B588FC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Enterprise identity is the largest explicitly modeled common-mode dependency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8266F-DA72-412F-B954-12062112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The count reflects critical relationships in the synthetic model; it is not a probability or loss estimate.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336F9-0162-495D-A692-70F2D7FD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0EEDB-2A14-46DF-B63E-3BCD26BA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43A"/>
                </a:solidFill>
              </a:defRPr>
            </a:pPr>
            <a:r>
              <a:rPr sz="1275" b="1">
                <a:solidFill>
                  <a:srgbClr val="11243A"/>
                </a:solidFill>
              </a:rPr>
              <a:t>Enterprise identity 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0EEC4-C766-4E43-98A5-DD2F3DC8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4317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78B3D-5A30-4A8B-B966-175D5DA2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4317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BF51F-BA75-4872-A4CA-8351AE89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243A"/>
                </a:solidFill>
              </a:defRPr>
            </a:pPr>
            <a:r>
              <a:rPr sz="1350" b="1">
                <a:solidFill>
                  <a:srgbClr val="11243A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71610-5BA2-4F4F-80E6-C303FAD6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243A"/>
                </a:solidFill>
              </a:defRPr>
            </a:pPr>
            <a:r>
              <a:rPr sz="1275" b="0">
                <a:solidFill>
                  <a:srgbClr val="11243A"/>
                </a:solidFill>
              </a:rPr>
              <a:t>Backup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5F85F-0508-4D39-8CAE-A0D2C27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B85EE-7CE3-4D3F-9A04-B3106954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EB59C-1AB5-48A7-BB95-51050CE1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384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243A"/>
                </a:solidFill>
              </a:defRPr>
            </a:pPr>
            <a:r>
              <a:rPr sz="1350" b="1">
                <a:solidFill>
                  <a:srgbClr val="11243A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C9AF3-847F-4895-B7B7-F45A5394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243A"/>
                </a:solidFill>
              </a:defRPr>
            </a:pPr>
            <a:r>
              <a:rPr sz="1275" b="0">
                <a:solidFill>
                  <a:srgbClr val="11243A"/>
                </a:solidFill>
              </a:rPr>
              <a:t>Clean-room recovery environment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E5D4D-5504-4C1F-A74B-641047E3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DA7C7-7B18-4F96-934C-B5D68D24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381A9-B238-4032-97C9-DF661E31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0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243A"/>
                </a:solidFill>
              </a:defRPr>
            </a:pPr>
            <a:r>
              <a:rPr sz="1350" b="1">
                <a:solidFill>
                  <a:srgbClr val="11243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6403C-972B-49C0-B189-01A74711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243A"/>
                </a:solidFill>
              </a:defRPr>
            </a:pPr>
            <a:r>
              <a:rPr sz="1275" b="0">
                <a:solidFill>
                  <a:srgbClr val="11243A"/>
                </a:solidFill>
              </a:rPr>
              <a:t>Database-management plane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06DB5-1D12-43F7-932E-F04A7F39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E4099-A4C3-4E79-8904-4430E113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3FD7E-AF65-43AD-8B22-C7BB317E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6242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243A"/>
                </a:solidFill>
              </a:defRPr>
            </a:pPr>
            <a:r>
              <a:rPr sz="1350" b="1">
                <a:solidFill>
                  <a:srgbClr val="11243A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8871E-F55E-4417-B99A-6422B76A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243A"/>
                </a:solidFill>
              </a:defRPr>
            </a:pPr>
            <a:r>
              <a:rPr sz="1275" b="0">
                <a:solidFill>
                  <a:srgbClr val="11243A"/>
                </a:solidFill>
              </a:rPr>
              <a:t>Payment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1639D-C78D-4DA4-B72C-4D497F1A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9107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38408-B445-4585-B0BD-96F4614B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910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1707D0-4952-4604-BA59-7211A511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24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243A"/>
                </a:solidFill>
              </a:defRPr>
            </a:pPr>
            <a:r>
              <a:rPr sz="1350" b="1">
                <a:solidFill>
                  <a:srgbClr val="11243A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18A925-6A7A-472C-A508-2D13487B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243A"/>
                </a:solidFill>
              </a:defRPr>
            </a:pPr>
            <a:r>
              <a:rPr sz="1275" b="0">
                <a:solidFill>
                  <a:srgbClr val="11243A"/>
                </a:solidFill>
              </a:rPr>
              <a:t>Payment gateway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A7B2A-339F-453E-A0E4-92664586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53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A4C32-7EFF-4B29-A0FC-5430D018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53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8C6F8-3097-43C9-8E0E-CC02D593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86375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243A"/>
                </a:solidFill>
              </a:defRPr>
            </a:pPr>
            <a:r>
              <a:rPr sz="1350" b="1">
                <a:solidFill>
                  <a:srgbClr val="11243A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9CAA94-08B9-465C-9DD8-9D960EFB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531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B7A"/>
                </a:solidFill>
              </a:defRPr>
            </a:pPr>
            <a:r>
              <a:rPr sz="975" b="0">
                <a:solidFill>
                  <a:srgbClr val="5C6B7A"/>
                </a:solidFill>
              </a:rPr>
              <a:t>Count of declared critical relationships; not a risk score</a:t>
            </a:r>
          </a:p>
        </p:txBody>
      </p:sp>
    </p:spTree>
    <p:extLst>
      <p:ext uri="{BB962C8B-B14F-4D97-AF65-F5344CB8AC3E}">
        <p14:creationId xmlns:p14="http://schemas.microsoft.com/office/powerpoint/2010/main" val="74081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98B39-BDB8-4758-BFB1-8B76674D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46802-8FC0-46D8-B39B-A005C043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RISK   05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C0A70CA6-392B-46F5-A628-15EB572C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A trusted-looking payment can still be operationally unsafe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13837-91AA-4DD1-B73A-5521A3FA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The containment decision must balance channel availability against data-integrity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68DC4-F41B-402A-BF88-FCDA546E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75B70-F193-434A-A9EA-B0ECCB4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15105-0589-4905-BF85-97342A42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Customer harm rises as access and payment channels degrade.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F243C-09B3-43F2-AFF8-1C0F03A8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1F6B8-37E4-424C-9BC2-52D3FE45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Settlement and liquidity decisions require independently reconciled positions.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D379E-C607-4702-BE68-1C75E47B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47F65-A358-4BF8-AE5B-85257B1C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Weak signals do not establish nation-state attribution.</a:t>
            </a:r>
          </a:p>
        </p:txBody>
      </p:sp>
    </p:spTree>
    <p:extLst>
      <p:ext uri="{BB962C8B-B14F-4D97-AF65-F5344CB8AC3E}">
        <p14:creationId xmlns:p14="http://schemas.microsoft.com/office/powerpoint/2010/main" val="1226625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1D7DAF-0334-4E24-B6A3-F09F0F42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39014-4247-471D-B5D7-82BDE829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SCENARIO   06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9F894DF6-50B3-4905-8510-5C22B289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Ambiguous warning becomes a timed integrity and containment dilemma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89AC5-9860-40A8-94BF-55C963DE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Eight phases reveal only explicitly modeled service effects and decision deadlines.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38C11-B0F4-4002-8335-00BF913A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85F21-1DAD-410F-B693-BEACB210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F9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DB4BB-1E9D-4908-9E2E-199BC1A1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981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BC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7DA4B-6BA0-4AAD-92B1-57D201E9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862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1243A"/>
                </a:solidFill>
              </a:defRPr>
            </a:pPr>
            <a:r>
              <a:rPr sz="975" b="0">
                <a:solidFill>
                  <a:srgbClr val="11243A"/>
                </a:solidFill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490A7-F1D1-477F-9EE3-F0082EC4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F9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084C6-B9E6-4116-A0C9-735A2742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486150"/>
            <a:ext cx="981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BC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41CC5-6B82-4607-AFB2-F1FC171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8862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1243A"/>
                </a:solidFill>
              </a:defRPr>
            </a:pPr>
            <a:r>
              <a:rPr sz="975" b="0">
                <a:solidFill>
                  <a:srgbClr val="11243A"/>
                </a:solidFill>
              </a:rPr>
              <a:t>Warning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BACCA-7CFC-4DB7-9E94-686CA111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F9E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6C890-758C-41A2-B3A9-A8E87E17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86150"/>
            <a:ext cx="981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B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0179F-F30C-4A95-AD71-B8B306C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862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1243A"/>
                </a:solidFill>
              </a:defRPr>
            </a:pPr>
            <a:r>
              <a:rPr sz="975" b="0">
                <a:solidFill>
                  <a:srgbClr val="11243A"/>
                </a:solidFill>
              </a:rPr>
              <a:t>Pre-position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33258-DE45-4265-9B09-004F905B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67638-A43E-42D9-B55A-630E14C1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486150"/>
            <a:ext cx="981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BC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17E57-7DC0-4069-B481-517B05E2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862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1243A"/>
                </a:solidFill>
              </a:defRPr>
            </a:pPr>
            <a:r>
              <a:rPr sz="975" b="0">
                <a:solidFill>
                  <a:srgbClr val="11243A"/>
                </a:solidFill>
              </a:rPr>
              <a:t>Disruption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E1C58-4A99-40F8-8B5E-FBF2E362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99401-16D6-4036-B12F-96C06BE4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981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BC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7B524-A901-4A3D-B7E5-46DE4059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862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1243A"/>
                </a:solidFill>
              </a:defRPr>
            </a:pPr>
            <a:r>
              <a:rPr sz="975" b="0">
                <a:solidFill>
                  <a:srgbClr val="11243A"/>
                </a:solidFill>
              </a:rPr>
              <a:t>Integrity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4E0498-E845-408A-B2BB-F894C725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ECDB7-7DCA-4482-AB2B-E83DADAC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86150"/>
            <a:ext cx="981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BC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D7E5D-E60B-4EA9-9AAB-24E38198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862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243A"/>
                </a:solidFill>
              </a:defRPr>
            </a:pPr>
            <a:r>
              <a:rPr sz="975" b="1">
                <a:solidFill>
                  <a:srgbClr val="11243A"/>
                </a:solidFill>
              </a:rPr>
              <a:t>Containment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2E471-4F2D-4314-999B-11C36CB9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A5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0BDDA4-91A6-449D-AB11-A809E59A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9810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BC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4E442-883C-4ABB-BBF1-8DFCE82D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1243A"/>
                </a:solidFill>
              </a:defRPr>
            </a:pPr>
            <a:r>
              <a:rPr sz="975" b="0">
                <a:solidFill>
                  <a:srgbClr val="11243A"/>
                </a:solidFill>
              </a:rPr>
              <a:t>Recovery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25885-BD3C-42C4-9C00-52E3D180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14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A5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B0017-030E-4368-AD82-ACBBF379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88620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1243A"/>
                </a:solidFill>
              </a:defRPr>
            </a:pPr>
            <a:r>
              <a:rPr sz="975" b="0">
                <a:solidFill>
                  <a:srgbClr val="11243A"/>
                </a:solidFill>
              </a:rPr>
              <a:t>Stabilize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0F885-3D28-41B1-BE9E-6D0986BD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6191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F3D75D-D4CF-4E8C-9E19-8445618B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14900"/>
            <a:ext cx="567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243A"/>
                </a:solidFill>
              </a:defRPr>
            </a:pPr>
            <a:r>
              <a:rPr sz="1350" b="1">
                <a:solidFill>
                  <a:srgbClr val="11243A"/>
                </a:solidFill>
              </a:rPr>
              <a:t>Containment decision: preserve payment availability or suspend channels while integrity is uncertain?</a:t>
            </a:r>
          </a:p>
        </p:txBody>
      </p:sp>
    </p:spTree>
    <p:extLst>
      <p:ext uri="{BB962C8B-B14F-4D97-AF65-F5344CB8AC3E}">
        <p14:creationId xmlns:p14="http://schemas.microsoft.com/office/powerpoint/2010/main" val="1133624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ECA5D-1606-4BC0-9CE1-4E9AEF6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189AA-CB19-4968-AD3F-C4C586B4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INCIDENT COMMAND   07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7EE43412-25B6-432D-9863-F68D5C54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Decision quality depends on evidence reaching the right owner before the deadline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9069C-AED3-419D-AAE5-EFD8B057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The responsibility model contains 0 accountability conflicts and 0 missing alternates requiring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9CFAB-FCB4-4672-8FEC-FD36DE9E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2F0C0-0521-4336-B77C-06E6BE49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85131-BAD7-400D-8E27-0CCDB145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Declare and activate crisis management.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8F021-CE8D-4FF4-BB5F-290C5650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CE090-15F5-423F-AEDE-A2EB2FB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Isolate identity or suspend a payment channel.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4F599-DC7E-4E51-A9FA-2880AAD2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A3F4E-BACA-450C-ADFE-B46391FC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Approve a recovery point and validate ledger integrity.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E53AD-1940-4186-A38B-EE768D20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58B9E-83C5-4609-9FF6-303B3CF5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Communicate externally only after legal and jurisdictional review.</a:t>
            </a:r>
          </a:p>
        </p:txBody>
      </p:sp>
    </p:spTree>
    <p:extLst>
      <p:ext uri="{BB962C8B-B14F-4D97-AF65-F5344CB8AC3E}">
        <p14:creationId xmlns:p14="http://schemas.microsoft.com/office/powerpoint/2010/main" val="1824520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38845-4AC7-4DF6-9CFF-21054097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A856C-3FE1-4C5E-87A5-3FB9E980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TECHNOLOGY   08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11CEE07B-107C-4368-94BF-A764832D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Tier 0 is a recovery and decision boundary—not a product label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FAC14-14F8-4C4E-A55C-B7DCD19F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19 synthetic dependencies are flagged Tier 0 with rationale and accountable ownership.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0ECA5-26EA-4C77-80D5-A360F222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3E083-2CB0-4EE0-A9D4-BA4AAA1E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90BBB-2B8C-4836-BBE0-5DE6069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Control-plane authority can create common-mode failure.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68FF9-9F9F-462C-857A-D3483081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F2990-F491-4580-872C-77D952A2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Monitoring coverage is qualified by telemetry, testing, and recovery availability.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E43E2-FB2A-46FE-86A6-98171FF8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900C2-3581-42CA-BA9D-B02479A2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Every modeled propagation path carries assumptions and confidence.</a:t>
            </a:r>
          </a:p>
        </p:txBody>
      </p:sp>
    </p:spTree>
    <p:extLst>
      <p:ext uri="{BB962C8B-B14F-4D97-AF65-F5344CB8AC3E}">
        <p14:creationId xmlns:p14="http://schemas.microsoft.com/office/powerpoint/2010/main" val="3454992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DBBC8F-4796-4234-959F-A91644F3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7354D-8305-4E9C-A3E8-9A1BD7A9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RECOVERY   09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4FB3E98D-0E5E-439E-9FEE-EFE2895E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Production dependencies can follow the bank into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D0062-CCC5-41A8-A68F-32892499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Clean-room recovery is credible only when identity, DNS, credentials, telemetry, and integrity validation are independent.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D45E-D9B8-4476-970C-B9F482BF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48FD3-037F-4778-8CCB-F0B8503D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866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EE18C-D0DB-4309-937D-5F63CAA9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43A"/>
                </a:solidFill>
              </a:defRPr>
            </a:pPr>
            <a:r>
              <a:rPr sz="1275" b="1">
                <a:solidFill>
                  <a:srgbClr val="11243A"/>
                </a:solidFill>
              </a:rPr>
              <a:t>Clean credentials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A3505-C304-458D-B5E2-FFA4BD8A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242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879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BCB0C-EB67-43EF-99EE-4174B8EE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866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4A292-F4E6-49B5-80CE-31EC3F35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43A"/>
                </a:solidFill>
              </a:defRPr>
            </a:pPr>
            <a:r>
              <a:rPr sz="1275" b="1">
                <a:solidFill>
                  <a:srgbClr val="11243A"/>
                </a:solidFill>
              </a:rPr>
              <a:t>Independent DNS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82DDC-2034-455C-93CA-DA3A064F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879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1A240-69AB-4D9E-A1B0-D8C652ED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866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ACDD9-8885-41AC-822D-98564827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43A"/>
                </a:solidFill>
              </a:defRPr>
            </a:pPr>
            <a:r>
              <a:rPr sz="1275" b="1">
                <a:solidFill>
                  <a:srgbClr val="11243A"/>
                </a:solidFill>
              </a:rPr>
              <a:t>Offline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CED41-820E-4D98-A449-07AADD89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879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3B907-7B55-4EA3-8D92-52D20184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1866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4BCA3-AFF0-478F-8819-873C1D6E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099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43A"/>
                </a:solidFill>
              </a:defRPr>
            </a:pPr>
            <a:r>
              <a:rPr sz="1275" b="1">
                <a:solidFill>
                  <a:srgbClr val="11243A"/>
                </a:solidFill>
              </a:rPr>
              <a:t>Recovery telemetry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E59B5-D7C9-4E25-8F1E-8F85E2D5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879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696E3-6C8D-4FE1-82AA-8AE565AC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1866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7A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BC4F8-FD20-46AC-9DFE-33E105F5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99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43A"/>
                </a:solidFill>
              </a:defRPr>
            </a:pPr>
            <a:r>
              <a:rPr sz="1275" b="1">
                <a:solidFill>
                  <a:srgbClr val="11243A"/>
                </a:solidFill>
              </a:rPr>
              <a:t>Ledger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B81DB-7E44-40BB-A324-FE65F57F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7810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0">
            <a:solidFill>
              <a:srgbClr val="11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D02E8-47F7-45DF-9E4E-E517A890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48200"/>
            <a:ext cx="708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Restore minimum viable service only after authority and transaction integrity are independently trusted.</a:t>
            </a:r>
          </a:p>
        </p:txBody>
      </p:sp>
    </p:spTree>
    <p:extLst>
      <p:ext uri="{BB962C8B-B14F-4D97-AF65-F5344CB8AC3E}">
        <p14:creationId xmlns:p14="http://schemas.microsoft.com/office/powerpoint/2010/main" val="2079129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D92E6-6E27-4C0D-AAD1-17CE9EB9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91233-7744-4141-A219-37BA1BDB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INVESTMENT   10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4B826551-C870-4D6A-90E8-AA0BDEEE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The first investments should remove recovery common modes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4B6AA-B9C1-4F74-83E3-09F1EC8A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Priorities are qualitative and traceable to declared dependency paths; no false precision is applied.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86791-7726-4C3C-BB25-D6F34CA9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282C0-8E18-4A0A-AE90-1A674B69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0D0A0-AFA4-412F-84EE-624DE08A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Independent recovery identity and privileged workstations.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E1F6A-ED06-42E1-8B48-98CE4F38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80E88-A0E0-4162-A3F2-133CF313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Immutable backups plus offline integrity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BE408-8C62-4E2D-A5CA-941BA612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5F5A6-6E63-47DC-96ED-68C31802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Independent name resolution and telecommunications diversity.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30E2E-E5B7-459C-B18E-E159C6C9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B3546-357F-4C38-8B7D-87EF6D7F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Transaction-integrity validation and tested manual payments.</a:t>
            </a:r>
          </a:p>
        </p:txBody>
      </p:sp>
    </p:spTree>
    <p:extLst>
      <p:ext uri="{BB962C8B-B14F-4D97-AF65-F5344CB8AC3E}">
        <p14:creationId xmlns:p14="http://schemas.microsoft.com/office/powerpoint/2010/main" val="1471319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9FBBA-0F6A-4FFA-8D41-A8B01C5B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70CEB-9E83-420D-A2C9-A0CC291D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OVERSIGHT   11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E656526F-4FAA-4893-8874-77F3F06E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Board measures should test resilience outcomes, not tool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ECFEE-3B56-42D7-BEA6-FD4166B9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Track evidence that controls are configured, receiving telemetry, tested, integrated, and visible during recovery.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1DB97-4A10-491F-B764-6140D622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E7094-EB6D-45B7-93D0-4ED873DE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5B9B7-EC8A-4912-81E1-56B237F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Tier 0 recovery tests completed with independent credentials.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ABD06-E9EF-4E96-B6D3-928A7B04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CCBEB-2BF5-41C1-8D38-18855240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Time to disable privilege and establish minimum viable payments.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5C62A-4E79-4EC5-B293-25F05BBB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0CB10-DF5C-465E-BA03-5418518D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Unreconciled transactions and integrity exceptions.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211BE-BEDF-4B05-9B0B-443C4C3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112EA-ADAB-4881-A4A5-94D2916F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Third-party substitution and alternate communications exercised.</a:t>
            </a:r>
          </a:p>
        </p:txBody>
      </p:sp>
    </p:spTree>
    <p:extLst>
      <p:ext uri="{BB962C8B-B14F-4D97-AF65-F5344CB8AC3E}">
        <p14:creationId xmlns:p14="http://schemas.microsoft.com/office/powerpoint/2010/main" val="13839295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7348D-9572-494B-B814-F9B098BE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36D2C-0F65-46ED-ADD3-3D40F4CB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B6F9E"/>
                </a:solidFill>
              </a:defRPr>
            </a:pPr>
            <a:r>
              <a:rPr sz="1050" b="1">
                <a:solidFill>
                  <a:srgbClr val="2B6F9E"/>
                </a:solidFill>
              </a:rPr>
              <a:t>DECISION   12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213A9543-1448-4866-940B-42BC55FE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243A"/>
                </a:solidFill>
              </a:defRPr>
            </a:pPr>
            <a:r>
              <a:rPr sz="2850" b="1">
                <a:solidFill>
                  <a:srgbClr val="11243A"/>
                </a:solidFill>
              </a:rPr>
              <a:t>Approve a sequenced program that makes recovery independent and evidence-led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12AE9-CB96-4161-998F-7C84C900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B7A"/>
                </a:solidFill>
              </a:defRPr>
            </a:pPr>
            <a:r>
              <a:rPr sz="1425" b="0">
                <a:solidFill>
                  <a:srgbClr val="5C6B7A"/>
                </a:solidFill>
              </a:rPr>
              <a:t>Management should return with accountable owners, bounded milestones, validation criteria, and residual-risk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04780-5514-408F-9279-530F9BD3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C6B7A"/>
                </a:solidFill>
              </a:defRPr>
            </a:pPr>
            <a:r>
              <a:rPr sz="750" b="0">
                <a:solidFill>
                  <a:srgbClr val="5C6B7A"/>
                </a:solidFill>
              </a:rPr>
              <a:t>SYNTHETIC EXERCISE DATA - NOT A REAL BANK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7AB15-CEE8-478C-82E5-2B16341A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1C71F-53CF-4C72-BAF3-260FB793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Approve the resilience priorities and ownership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39CA6-5FEA-4B6B-9AEA-A7B92006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9F52C-0B99-4FF1-8E0B-081538A3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Require quarterly evidence against service tolerances.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C823B-1801-4A39-953D-D63E44A3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7B157-AC6B-4AED-982A-12E3AC24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243A"/>
                </a:solidFill>
              </a:defRPr>
            </a:pPr>
            <a:r>
              <a:rPr sz="1500" b="0">
                <a:solidFill>
                  <a:srgbClr val="11243A"/>
                </a:solidFill>
              </a:rPr>
              <a:t>Revalidate Tier 0 after material architecture or provider change.</a:t>
            </a:r>
          </a:p>
        </p:txBody>
      </p:sp>
    </p:spTree>
    <p:extLst>
      <p:ext uri="{BB962C8B-B14F-4D97-AF65-F5344CB8AC3E}">
        <p14:creationId xmlns:p14="http://schemas.microsoft.com/office/powerpoint/2010/main" val="214987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2026-08-12T20:34:29.1930000Z</dcterms:created>
  <dcterms:modified xsi:type="dcterms:W3CDTF">2026-08-12T20:34:29.1930000Z</dcterms:modified>
</coreProperties>
</file>