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56f3adc1954f19" /><Relationship Type="http://schemas.openxmlformats.org/officeDocument/2006/relationships/extended-properties" Target="/docProps/app.xml" Id="R4b1b23c067a740ec" /><Relationship Type="http://schemas.openxmlformats.org/officeDocument/2006/relationships/officeDocument" Target="/ppt/presentation.xml" Id="Rb90abf36f65d47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6d95497979446e"/>
    <p:sldMasterId xmlns:r="http://schemas.openxmlformats.org/officeDocument/2006/relationships" id="2147483650" r:id="Rc16be1802d6e4e70"/>
  </p:sldMasterIdLst>
  <p:notesMasterIdLst>
    <p:notesMasterId xmlns:r="http://schemas.openxmlformats.org/officeDocument/2006/relationships" r:id="Ree5fd1678f454dd7"/>
  </p:notesMasterIdLst>
  <p:sldIdLst>
    <p:sldId xmlns:r="http://schemas.openxmlformats.org/officeDocument/2006/relationships" id="256" r:id="R528a205193d14949"/>
    <p:sldId xmlns:r="http://schemas.openxmlformats.org/officeDocument/2006/relationships" id="257" r:id="R1120e4d9a953424e"/>
    <p:sldId xmlns:r="http://schemas.openxmlformats.org/officeDocument/2006/relationships" id="258" r:id="Rd8ad90dfbfb7437a"/>
    <p:sldId xmlns:r="http://schemas.openxmlformats.org/officeDocument/2006/relationships" id="259" r:id="Rab3abc549f714e39"/>
    <p:sldId xmlns:r="http://schemas.openxmlformats.org/officeDocument/2006/relationships" id="260" r:id="Raa822559d9c94945"/>
    <p:sldId xmlns:r="http://schemas.openxmlformats.org/officeDocument/2006/relationships" id="261" r:id="Rbb51b019959241eb"/>
    <p:sldId xmlns:r="http://schemas.openxmlformats.org/officeDocument/2006/relationships" id="262" r:id="Rdb7cc0a1b8d148cc"/>
    <p:sldId xmlns:r="http://schemas.openxmlformats.org/officeDocument/2006/relationships" id="263" r:id="Rc5b230a523564ff4"/>
    <p:sldId xmlns:r="http://schemas.openxmlformats.org/officeDocument/2006/relationships" id="264" r:id="Rc54b0635c17848d5"/>
    <p:sldId xmlns:r="http://schemas.openxmlformats.org/officeDocument/2006/relationships" id="265" r:id="R85f0f7bc6cec48e6"/>
    <p:sldId xmlns:r="http://schemas.openxmlformats.org/officeDocument/2006/relationships" id="266" r:id="Rb5072f2dee134f3d"/>
    <p:sldId xmlns:r="http://schemas.openxmlformats.org/officeDocument/2006/relationships" id="267" r:id="Rdec3836d273d48e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4ec1ec948c449d" /><Relationship Type="http://schemas.openxmlformats.org/officeDocument/2006/relationships/slideMaster" Target="/ppt/slideMasters/slideMaster1.xml" Id="R706d95497979446e" /><Relationship Type="http://schemas.openxmlformats.org/officeDocument/2006/relationships/slideMaster" Target="/ppt/slideMasters/slideMaster2.xml" Id="Rc16be1802d6e4e70" /><Relationship Type="http://schemas.openxmlformats.org/officeDocument/2006/relationships/notesMaster" Target="/ppt/notesMasters/notesMaster1.xml" Id="Ree5fd1678f454dd7" /><Relationship Type="http://schemas.openxmlformats.org/officeDocument/2006/relationships/presProps" Target="/ppt/presProps.xml" Id="Rd0445356ee27484a" /><Relationship Type="http://schemas.openxmlformats.org/officeDocument/2006/relationships/tableStyles" Target="/ppt/tableStyles.xml" Id="R2b7728a06de74445" /><Relationship Type="http://schemas.openxmlformats.org/officeDocument/2006/relationships/slide" Target="/ppt/slides/slide1.xml" Id="R528a205193d14949" /><Relationship Type="http://schemas.openxmlformats.org/officeDocument/2006/relationships/slide" Target="/ppt/slides/slide2.xml" Id="R1120e4d9a953424e" /><Relationship Type="http://schemas.openxmlformats.org/officeDocument/2006/relationships/slide" Target="/ppt/slides/slide3.xml" Id="Rd8ad90dfbfb7437a" /><Relationship Type="http://schemas.openxmlformats.org/officeDocument/2006/relationships/slide" Target="/ppt/slides/slide4.xml" Id="Rab3abc549f714e39" /><Relationship Type="http://schemas.openxmlformats.org/officeDocument/2006/relationships/slide" Target="/ppt/slides/slide5.xml" Id="Raa822559d9c94945" /><Relationship Type="http://schemas.openxmlformats.org/officeDocument/2006/relationships/slide" Target="/ppt/slides/slide6.xml" Id="Rbb51b019959241eb" /><Relationship Type="http://schemas.openxmlformats.org/officeDocument/2006/relationships/slide" Target="/ppt/slides/slide7.xml" Id="Rdb7cc0a1b8d148cc" /><Relationship Type="http://schemas.openxmlformats.org/officeDocument/2006/relationships/slide" Target="/ppt/slides/slide8.xml" Id="Rc5b230a523564ff4" /><Relationship Type="http://schemas.openxmlformats.org/officeDocument/2006/relationships/slide" Target="/ppt/slides/slide9.xml" Id="Rc54b0635c17848d5" /><Relationship Type="http://schemas.openxmlformats.org/officeDocument/2006/relationships/slide" Target="/ppt/slides/slide10.xml" Id="R85f0f7bc6cec48e6" /><Relationship Type="http://schemas.openxmlformats.org/officeDocument/2006/relationships/slide" Target="/ppt/slides/slide11.xml" Id="Rb5072f2dee134f3d" /><Relationship Type="http://schemas.openxmlformats.org/officeDocument/2006/relationships/slide" Target="/ppt/slides/slide12.xml" Id="Rdec3836d273d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7a511b268864e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be1844f5a466e" /><Relationship Type="http://schemas.openxmlformats.org/officeDocument/2006/relationships/notesMaster" Target="/ppt/notesMasters/notesMaster1.xml" Id="R26a29f3e9a2745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1719d5987e447b" /><Relationship Type="http://schemas.openxmlformats.org/officeDocument/2006/relationships/notesMaster" Target="/ppt/notesMasters/notesMaster1.xml" Id="Ra0651cfaff4d4d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9a3cafaf2141c5" /><Relationship Type="http://schemas.openxmlformats.org/officeDocument/2006/relationships/notesMaster" Target="/ppt/notesMasters/notesMaster1.xml" Id="R600ac3d1fa4043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074b060fc14205" /><Relationship Type="http://schemas.openxmlformats.org/officeDocument/2006/relationships/notesMaster" Target="/ppt/notesMasters/notesMaster1.xml" Id="R45e845d12fc345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68f7eb79184c13" /><Relationship Type="http://schemas.openxmlformats.org/officeDocument/2006/relationships/notesMaster" Target="/ppt/notesMasters/notesMaster1.xml" Id="Rd522e3fa5e2147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e0188c22384d4b" /><Relationship Type="http://schemas.openxmlformats.org/officeDocument/2006/relationships/notesMaster" Target="/ppt/notesMasters/notesMaster1.xml" Id="R286d1120ff564e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3de03bd0d249c0" /><Relationship Type="http://schemas.openxmlformats.org/officeDocument/2006/relationships/notesMaster" Target="/ppt/notesMasters/notesMaster1.xml" Id="R8ff91cd7a64a4aa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ada3cbb7cd4f89" /><Relationship Type="http://schemas.openxmlformats.org/officeDocument/2006/relationships/notesMaster" Target="/ppt/notesMasters/notesMaster1.xml" Id="R00aa31c45b3a43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2ca7cd505a41a1" /><Relationship Type="http://schemas.openxmlformats.org/officeDocument/2006/relationships/notesMaster" Target="/ppt/notesMasters/notesMaster1.xml" Id="Rcee8981ce62549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ac3d697c1549cd" /><Relationship Type="http://schemas.openxmlformats.org/officeDocument/2006/relationships/notesMaster" Target="/ppt/notesMasters/notesMaster1.xml" Id="R18a061a599664f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5e72916bc4458c" /><Relationship Type="http://schemas.openxmlformats.org/officeDocument/2006/relationships/notesMaster" Target="/ppt/notesMasters/notesMaster1.xml" Id="R4827641cb67f43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acd07267224b7f" /><Relationship Type="http://schemas.openxmlformats.org/officeDocument/2006/relationships/notesMaster" Target="/ppt/notesMasters/notesMaster1.xml" Id="R4ab7d865c75e48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ecosystem YAML and assessment model.</a:t>
            </a:r>
          </a:p>
          <a:p xmlns:a="http://schemas.openxmlformats.org/drawingml/2006/main">
            <a:r>
              <a:t>- No external claim or asset. All values are synthetic.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3e07faa654f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13bb7f32c24f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0a704bf4a743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60d8019e224f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d0c929be5548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ee1bd40bc841a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2856b846a42446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7597b18ee0b42d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ee75aa58640473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abc5eae24649a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d38df9ec9140a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c275163c0b4a8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1b28b45dc74db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1d6aa8d47a403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b311618089c4b4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b4f525ca5e49a4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9cabc6ca0cc4fb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33f2919521486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85e0d3f68f4fd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90344f6315342b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4ee4c9f8e24f9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a56d4b0e6264a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Minimal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AB7D70B-3A93-49EA-8C8D-CC731CFE418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Section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82E1743-82AB-4FAD-B05E-DB6C0C94BB0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Executive takeawa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B0D589F1-07E4-46BB-9670-91F7CE30EDA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laim plus evidenc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10C0D23-C340-479B-9A0B-8ECC1F5FE0C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Full-width char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A124019-3850-4BF5-87BB-923A22F63EB3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Chart plus interpret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72ABB4B-1090-4CA1-AE78-D298DEE64B4C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Architecture diagra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4E0E54C0-0050-4955-88D3-C529112D873D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Service-dependency 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B0FB6425-B6D9-477A-9655-9C5C50A0AF9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Current state versus target sta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268961-095F-4238-AD3E-682EEB20418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Risk concentr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07522986-8E51-46A3-AC54-E98D049AE68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Scenario time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C4BE6B6F-EA77-455C-8AF8-61E8FF31E794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Decision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6823651-6445-4AF6-8816-BCD0BEB2EB8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Three-option 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B190F16F-C171-462B-9C0B-CD0EA0ABAEF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Investment roadma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D6E37E35-DD18-4095-A456-5A0EC99698E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KPI or KRI score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45BE0800-8ECD-4DC0-8387-E7576AEF230A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Before-and-after vali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C06D38A-AD88-4428-8212-06F08FDFB176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Tab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11795F99-7B06-45DB-B24A-2374C200A235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>
  <p:cSld name="Quote or governing princip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59E9D659-ACC5-4E94-99CC-38CA89BF949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>
  <p:cSld name="Closing recommenda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2CE2F21-5354-41C3-A00B-25ED9FE07CF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>
  <p:cSld name="Appendix detai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66CF54B1-BA06-4A26-9EF7-517BCCD5514B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>
  <p:cSld name="Source and methodolog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29DC21DC-F939-40E0-B618-2EE70C1F68C4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685800" y="6191250"/>
            <a:ext cx="571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note / synthetic-data footer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baf737111d426e" /><Relationship Type="http://schemas.openxmlformats.org/officeDocument/2006/relationships/slideLayout" Target="/ppt/slideLayouts/slideLayout1.xml" Id="R91cd6942593b476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a3dd83a2b384b20" /><Relationship Type="http://schemas.openxmlformats.org/officeDocument/2006/relationships/slideLayout" Target="/ppt/slideLayouts/slideLayout2.xml" Id="R2bb1953664fb4d3c" /><Relationship Type="http://schemas.openxmlformats.org/officeDocument/2006/relationships/slideLayout" Target="/ppt/slideLayouts/slideLayout3.xml" Id="R355879514b6141cc" /><Relationship Type="http://schemas.openxmlformats.org/officeDocument/2006/relationships/slideLayout" Target="/ppt/slideLayouts/slideLayout4.xml" Id="Rcd368eb67d84490f" /><Relationship Type="http://schemas.openxmlformats.org/officeDocument/2006/relationships/slideLayout" Target="/ppt/slideLayouts/slideLayout5.xml" Id="R78d16c42f8fa4996" /><Relationship Type="http://schemas.openxmlformats.org/officeDocument/2006/relationships/slideLayout" Target="/ppt/slideLayouts/slideLayout6.xml" Id="R1fa9c01e51754c15" /><Relationship Type="http://schemas.openxmlformats.org/officeDocument/2006/relationships/slideLayout" Target="/ppt/slideLayouts/slideLayout7.xml" Id="Rf6117345bdd04c6c" /><Relationship Type="http://schemas.openxmlformats.org/officeDocument/2006/relationships/slideLayout" Target="/ppt/slideLayouts/slideLayout8.xml" Id="Rb42c4f47558f4bb8" /><Relationship Type="http://schemas.openxmlformats.org/officeDocument/2006/relationships/slideLayout" Target="/ppt/slideLayouts/slideLayout9.xml" Id="Rbc1b4f3345e14f58" /><Relationship Type="http://schemas.openxmlformats.org/officeDocument/2006/relationships/slideLayout" Target="/ppt/slideLayouts/slideLayout10.xml" Id="R495de6cdacb8439e" /><Relationship Type="http://schemas.openxmlformats.org/officeDocument/2006/relationships/slideLayout" Target="/ppt/slideLayouts/slideLayout11.xml" Id="R3b5013995c43485f" /><Relationship Type="http://schemas.openxmlformats.org/officeDocument/2006/relationships/slideLayout" Target="/ppt/slideLayouts/slideLayout12.xml" Id="R581f73302fd3425b" /><Relationship Type="http://schemas.openxmlformats.org/officeDocument/2006/relationships/slideLayout" Target="/ppt/slideLayouts/slideLayout13.xml" Id="R90c7a6593c784168" /><Relationship Type="http://schemas.openxmlformats.org/officeDocument/2006/relationships/slideLayout" Target="/ppt/slideLayouts/slideLayout14.xml" Id="R079db228f5204e42" /><Relationship Type="http://schemas.openxmlformats.org/officeDocument/2006/relationships/slideLayout" Target="/ppt/slideLayouts/slideLayout15.xml" Id="Rf84decf01fed41f0" /><Relationship Type="http://schemas.openxmlformats.org/officeDocument/2006/relationships/slideLayout" Target="/ppt/slideLayouts/slideLayout16.xml" Id="R136f6463310b44ea" /><Relationship Type="http://schemas.openxmlformats.org/officeDocument/2006/relationships/slideLayout" Target="/ppt/slideLayouts/slideLayout17.xml" Id="R7c8916d09c9e446e" /><Relationship Type="http://schemas.openxmlformats.org/officeDocument/2006/relationships/slideLayout" Target="/ppt/slideLayouts/slideLayout18.xml" Id="Rab5f6cfa92004bfc" /><Relationship Type="http://schemas.openxmlformats.org/officeDocument/2006/relationships/slideLayout" Target="/ppt/slideLayouts/slideLayout19.xml" Id="Re14ceac748774bca" /><Relationship Type="http://schemas.openxmlformats.org/officeDocument/2006/relationships/slideLayout" Target="/ppt/slideLayouts/slideLayout20.xml" Id="R0793e8ccaadc4836" /><Relationship Type="http://schemas.openxmlformats.org/officeDocument/2006/relationships/slideLayout" Target="/ppt/slideLayouts/slideLayout21.xml" Id="R5a288d18f4764059" /><Relationship Type="http://schemas.openxmlformats.org/officeDocument/2006/relationships/slideLayout" Target="/ppt/slideLayouts/slideLayout22.xml" Id="Rb75b30178b584e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cd6942593b47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Continuum Resilience Master"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2bb1953664fb4d3c"/>
    <p:sldLayoutId xmlns:r="http://schemas.openxmlformats.org/officeDocument/2006/relationships" id="2147483652" r:id="R355879514b6141cc"/>
    <p:sldLayoutId xmlns:r="http://schemas.openxmlformats.org/officeDocument/2006/relationships" id="2147483653" r:id="Rcd368eb67d84490f"/>
    <p:sldLayoutId xmlns:r="http://schemas.openxmlformats.org/officeDocument/2006/relationships" id="2147483654" r:id="R78d16c42f8fa4996"/>
    <p:sldLayoutId xmlns:r="http://schemas.openxmlformats.org/officeDocument/2006/relationships" id="2147483655" r:id="R1fa9c01e51754c15"/>
    <p:sldLayoutId xmlns:r="http://schemas.openxmlformats.org/officeDocument/2006/relationships" id="2147483656" r:id="Rf6117345bdd04c6c"/>
    <p:sldLayoutId xmlns:r="http://schemas.openxmlformats.org/officeDocument/2006/relationships" id="2147483657" r:id="Rb42c4f47558f4bb8"/>
    <p:sldLayoutId xmlns:r="http://schemas.openxmlformats.org/officeDocument/2006/relationships" id="2147483658" r:id="Rbc1b4f3345e14f58"/>
    <p:sldLayoutId xmlns:r="http://schemas.openxmlformats.org/officeDocument/2006/relationships" id="2147483659" r:id="R495de6cdacb8439e"/>
    <p:sldLayoutId xmlns:r="http://schemas.openxmlformats.org/officeDocument/2006/relationships" id="2147483660" r:id="R3b5013995c43485f"/>
    <p:sldLayoutId xmlns:r="http://schemas.openxmlformats.org/officeDocument/2006/relationships" id="2147483661" r:id="R581f73302fd3425b"/>
    <p:sldLayoutId xmlns:r="http://schemas.openxmlformats.org/officeDocument/2006/relationships" id="2147483662" r:id="R90c7a6593c784168"/>
    <p:sldLayoutId xmlns:r="http://schemas.openxmlformats.org/officeDocument/2006/relationships" id="2147483663" r:id="R079db228f5204e42"/>
    <p:sldLayoutId xmlns:r="http://schemas.openxmlformats.org/officeDocument/2006/relationships" id="2147483664" r:id="Rf84decf01fed41f0"/>
    <p:sldLayoutId xmlns:r="http://schemas.openxmlformats.org/officeDocument/2006/relationships" id="2147483665" r:id="R136f6463310b44ea"/>
    <p:sldLayoutId xmlns:r="http://schemas.openxmlformats.org/officeDocument/2006/relationships" id="2147483666" r:id="R7c8916d09c9e446e"/>
    <p:sldLayoutId xmlns:r="http://schemas.openxmlformats.org/officeDocument/2006/relationships" id="2147483667" r:id="Rab5f6cfa92004bfc"/>
    <p:sldLayoutId xmlns:r="http://schemas.openxmlformats.org/officeDocument/2006/relationships" id="2147483668" r:id="Re14ceac748774bca"/>
    <p:sldLayoutId xmlns:r="http://schemas.openxmlformats.org/officeDocument/2006/relationships" id="2147483669" r:id="R0793e8ccaadc4836"/>
    <p:sldLayoutId xmlns:r="http://schemas.openxmlformats.org/officeDocument/2006/relationships" id="2147483670" r:id="R5a288d18f4764059"/>
    <p:sldLayoutId xmlns:r="http://schemas.openxmlformats.org/officeDocument/2006/relationships" id="2147483671" r:id="Rb75b30178b584e08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3e2edb7d5483e" /><Relationship Type="http://schemas.openxmlformats.org/officeDocument/2006/relationships/notesSlide" Target="/ppt/notesSlides/notesSlide1.xml" Id="R3f4ed8f85cbf40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4f93c743246f5" /><Relationship Type="http://schemas.openxmlformats.org/officeDocument/2006/relationships/notesSlide" Target="/ppt/notesSlides/notesSlide2.xml" Id="R1c81e9b8c04b40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7f06808fbc4a88" /><Relationship Type="http://schemas.openxmlformats.org/officeDocument/2006/relationships/notesSlide" Target="/ppt/notesSlides/notesSlide3.xml" Id="R695707ce205e40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e445bd9294b20" /><Relationship Type="http://schemas.openxmlformats.org/officeDocument/2006/relationships/chart" Target="/ppt/slides/charts/chart1.xml" Id="R57f6f41247574062" /><Relationship Type="http://schemas.openxmlformats.org/officeDocument/2006/relationships/notesSlide" Target="/ppt/notesSlides/notesSlide4.xml" Id="Rd9d954b4c19c42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f454478444b14" /><Relationship Type="http://schemas.openxmlformats.org/officeDocument/2006/relationships/notesSlide" Target="/ppt/notesSlides/notesSlide5.xml" Id="Rc6a81fea45b440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be624d16e4c85" /><Relationship Type="http://schemas.openxmlformats.org/officeDocument/2006/relationships/notesSlide" Target="/ppt/notesSlides/notesSlide6.xml" Id="R861f0c8746b747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c847dce5f4739" /><Relationship Type="http://schemas.openxmlformats.org/officeDocument/2006/relationships/notesSlide" Target="/ppt/notesSlides/notesSlide7.xml" Id="Rc4ad986d5ef740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5b189231d4d94" /><Relationship Type="http://schemas.openxmlformats.org/officeDocument/2006/relationships/notesSlide" Target="/ppt/notesSlides/notesSlide8.xml" Id="R62d1cf33e95945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8f0a334c44ae7" /><Relationship Type="http://schemas.openxmlformats.org/officeDocument/2006/relationships/notesSlide" Target="/ppt/notesSlides/notesSlide9.xml" Id="R73ca61e97d9247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e507b0bab4e7c" /><Relationship Type="http://schemas.openxmlformats.org/officeDocument/2006/relationships/notesSlide" Target="/ppt/notesSlides/notesSlide10.xml" Id="Re6525796017041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7f91807b44a30" /><Relationship Type="http://schemas.openxmlformats.org/officeDocument/2006/relationships/notesSlide" Target="/ppt/notesSlides/notesSlide11.xml" Id="R258c6c33e4474b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d9198b1324860" /><Relationship Type="http://schemas.openxmlformats.org/officeDocument/2006/relationships/notesSlide" Target="/ppt/notesSlides/notesSlide12.xml" Id="R58dd37924b1749f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Critical relationships</c:v>
          </c:tx>
          <c:spPr>
            <a:solidFill xmlns:a="http://schemas.openxmlformats.org/drawingml/2006/main">
              <a:srgbClr val="B77832"/>
            </a:solidFill>
          </c:spPr>
          <c:cat>
            <c:strLit>
              <c:ptCount val="6"/>
              <c:pt idx="0">
                <c:v>Enterprise identity provider</c:v>
              </c:pt>
              <c:pt idx="1">
                <c:v>Backup platform</c:v>
              </c:pt>
              <c:pt idx="2">
                <c:v>Clean-room recovery</c:v>
              </c:pt>
              <c:pt idx="3">
                <c:v>Database-management plane</c:v>
              </c:pt>
              <c:pt idx="4">
                <c:v>Payment approval</c:v>
              </c:pt>
              <c:pt idx="5">
                <c:v>Payment gateway</c:v>
              </c:pt>
            </c:strLit>
          </c:cat>
          <c:val>
            <c:numLit>
              <c:formatCode>General</c:formatCode>
              <c:ptCount val="6"/>
              <c:pt idx="0">
                <c:v>7</c:v>
              </c:pt>
              <c:pt idx="1">
                <c:v>4</c:v>
              </c:pt>
              <c:pt idx="2">
                <c:v>2</c:v>
              </c:pt>
              <c:pt idx="3">
                <c:v>2</c:v>
              </c:pt>
              <c:pt idx="4">
                <c:v>2</c:v>
              </c:pt>
              <c:pt idx="5">
                <c:v>2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5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Declared critical relationships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CCE29-DB82-48EF-A9D3-5696EE4A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54F3A-F3E0-4F5D-BBAE-5C1D2EF6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59968-A11E-46BF-9EA5-C888D4AD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85335-E3EB-41CD-8C43-EFBABD2D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CBD6"/>
                </a:solidFill>
              </a:defRPr>
            </a:pPr>
            <a:r>
              <a:rPr sz="900" b="1">
                <a:solidFill>
                  <a:srgbClr val="B8CBD6"/>
                </a:solidFill>
              </a:rPr>
              <a:t>BOARD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4819B-AC02-414D-A8B5-DC2E6318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F847C-E682-4DAA-BA0F-5BE23788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B8CBD6"/>
                </a:solidFill>
              </a:defRPr>
            </a:pPr>
            <a:r>
              <a:rPr sz="750" b="0">
                <a:solidFill>
                  <a:srgbClr val="B8CBD6"/>
                </a:solidFill>
              </a:rPr>
              <a:t>SYNTHETIC EXERCISE DATA - NOT A REAL BANK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74F85-AE07-4401-8438-C438D440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Cyber Operational Resilience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Decision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A06A8-0830-4D39-8CA7-0FB35D8A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2A109-A966-466C-9CCE-E9185E6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8D7DF"/>
                </a:solidFill>
              </a:defRPr>
            </a:pPr>
            <a:r>
              <a:rPr sz="1650" b="0">
                <a:solidFill>
                  <a:srgbClr val="C8D7DF"/>
                </a:solidFill>
              </a:rPr>
              <a:t>A decision briefing on shared control planes, trusted transactions and independent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1CC3D-F68B-47B4-916E-33FB5925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832"/>
                </a:solidFill>
              </a:defRPr>
            </a:pPr>
            <a:r>
              <a:rPr sz="1050" b="1">
                <a:solidFill>
                  <a:srgbClr val="B77832"/>
                </a:solidFill>
              </a:rPr>
              <a:t>HARBOR RIDGE BANK | FICTIONAL DEMONSTRATION CLIENT</a:t>
            </a:r>
          </a:p>
        </p:txBody>
      </p:sp>
    </p:spTree>
    <p:extLst>
      <p:ext uri="{BB962C8B-B14F-4D97-AF65-F5344CB8AC3E}">
        <p14:creationId xmlns:p14="http://schemas.microsoft.com/office/powerpoint/2010/main" val="16539300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18A43-3975-4DC1-908D-19771362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96D94-2C2C-4E5A-AEBB-97FB894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D3F8A-4EA5-4B87-B982-E6B09CBC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260BD-FE2A-4413-8BBC-9B05D971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EXECUTIVE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745CA-5C7B-4740-B43E-4DDFC6AA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E4E18-FA91-4007-BE1A-5265FB7C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5D4D9D-BCDF-4F8E-87C5-C080D368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Four choices determine whether disruption becomes customer harm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BD88E-2676-40C7-811C-E3466279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Identity, transaction integrity, minimum viable payments and independent recovery form the decision frame.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B5D71-1170-4AB7-848F-E1946F8D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14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Resilience is a management decision system, not a collection of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07291-8FDE-4DD0-BC62-4039AC50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solidFill>
              <a:srgbClr val="B778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61B5D-4F84-45F8-B8D2-24FE6FE4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86050"/>
            <a:ext cx="24288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B7D"/>
                </a:solidFill>
              </a:defRPr>
            </a:pPr>
            <a:r>
              <a:rPr sz="1500" b="1">
                <a:solidFill>
                  <a:srgbClr val="315B7D"/>
                </a:solidFill>
              </a:rPr>
              <a:t>Approve authority, evidence thresholds and recovery independence before a timed crisis.</a:t>
            </a:r>
          </a:p>
        </p:txBody>
      </p:sp>
    </p:spTree>
    <p:extLst>
      <p:ext uri="{BB962C8B-B14F-4D97-AF65-F5344CB8AC3E}">
        <p14:creationId xmlns:p14="http://schemas.microsoft.com/office/powerpoint/2010/main" val="17339750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6CB765-4051-4CC0-B8D5-7196500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FDE73-2CEF-4041-9051-01C0B001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1801-5C78-42DF-8D69-D594715E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334F6-38B2-4F03-BAAC-D4D06107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CRITICAL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6D340-926D-4519-8203-64A1D198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0DCB8-AB2C-4FF8-A3ED-EDE8030A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6C9618-6929-4C90-9E21-361B8D52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Sixteen critical services share a small set of control planes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EDD82-AF26-49B6-80F6-DA667075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The service view connects customer and market need to explicitly declared dependencies.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D9CE9-9060-4087-8375-7108269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1CBEB9-6CAC-48B0-A4D4-7F0ED94F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098F0-3815-4D70-B529-B7EB2283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38B15-F3E4-4CB7-9383-615F97EB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10000"/>
            <a:ext cx="285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49F9C-A55E-4C23-8FA6-3078C0BC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57700"/>
            <a:ext cx="8315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1394D-F98E-4592-BD1B-2B59B47C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457700"/>
            <a:ext cx="285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B5BD3C-254C-4109-AC4A-09BD212E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9F470-37E2-4CF7-ABA6-6621C2A6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Customer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8418A-21F1-4330-9F80-B12E6FD8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7F70C-AC65-4332-882D-36F5611F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Money movement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397074-96E3-4703-9433-625AE2FE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ECFDCB-80AA-48D1-A727-FA54D226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Financial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19E1B-1F91-4390-A0E0-4D4C59A7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575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43CDD7-1F5C-4E09-86EE-D62CC743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1924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Recovery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5C53DC-EB0F-482C-99CF-55CE79F5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48250"/>
            <a:ext cx="43338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28575">
            <a:solidFill>
              <a:srgbClr val="B7783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277000-B85C-48B2-B4A0-D360F2FC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3762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Enterprise identity provider: 7 declared critical relationships</a:t>
            </a:r>
          </a:p>
        </p:txBody>
      </p:sp>
    </p:spTree>
    <p:extLst>
      <p:ext uri="{BB962C8B-B14F-4D97-AF65-F5344CB8AC3E}">
        <p14:creationId xmlns:p14="http://schemas.microsoft.com/office/powerpoint/2010/main" val="7421835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D0410-1904-497C-985B-B7E0F13D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63A15-B033-4170-A7CE-F2F18B7E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C167C-480B-43F7-81BA-B03AEA9D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AAD7D-9AF6-4C72-A59B-0307F51A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CONCENTRATION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CD192-C42F-45E4-AB37-E0B09DF7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56EBE-5717-462A-AE67-7A60A11E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8669F-A5E0-4844-90E4-9900A25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Enterprise identity is the largest declared common-mode dependency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F0694-C51A-4992-A466-7DFDF2B0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Counts are critical relationships in the synthetic model, not probabilities or loss estimates.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800100" y="2619375"/>
          <a:ext xmlns:a="http://schemas.openxmlformats.org/drawingml/2006/main" cx="72390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f6f41247574062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47972-E235-4ED4-8B16-06A33CCF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4560A-D34E-421C-A956-050B9B92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333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Identity is the largest modeled common-mode concentration. The count is evidence of dependency, not likelihood or loss.</a:t>
            </a:r>
          </a:p>
        </p:txBody>
      </p:sp>
    </p:spTree>
    <p:extLst>
      <p:ext uri="{BB962C8B-B14F-4D97-AF65-F5344CB8AC3E}">
        <p14:creationId xmlns:p14="http://schemas.microsoft.com/office/powerpoint/2010/main" val="15317138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000F3B-2838-43E2-A8DC-53343037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0020D-F5D6-419F-BC23-8D79D9AE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1509C-E377-445B-859C-B79CC1D7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62C2A-E341-451C-BA3C-D39A9AB8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TIER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A367D-09DC-4F1C-9E0E-D3308C52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09080-4077-48B0-AADB-C0CDCA48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A56138-A3D1-45D3-AF2A-C4186867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Tier 0 marks a recovery and decision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02790-FCB0-4422-A55C-0B2B0831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Nineteen dependencies have rationale and accountable ownership; designation remains institution-specific.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A11AF-12BE-4B81-9B31-1B005E9A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E3958-FDEB-4072-9642-0E9B8368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Broad authority can create multi-service failure.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EEBC3-6DFC-4277-9C00-0E6E727F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BF80F9-5491-4D47-A503-A9CB1059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956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Trusted recovery depends on identity, backup and integrity evidence.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1352C-15EC-461C-B688-080B0EAF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B7287-FE39-4558-AFDF-7F52D880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Human approval remains required after material change.</a:t>
            </a:r>
          </a:p>
        </p:txBody>
      </p:sp>
    </p:spTree>
    <p:extLst>
      <p:ext uri="{BB962C8B-B14F-4D97-AF65-F5344CB8AC3E}">
        <p14:creationId xmlns:p14="http://schemas.microsoft.com/office/powerpoint/2010/main" val="810222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095CDA-0D0C-48C5-A8E3-F6BE889B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9E87B-2DA1-451A-80FE-B3C95483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A863F-F159-452C-99E5-92BA175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2D057-DAE3-4CB9-964C-4B3AD6B5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SCENARIO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ABD54-C48C-40BE-A47F-D284BF6C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AFE06-711B-4C63-B8B5-904DA27C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A91786-7D4C-4D31-A46E-B411B6B9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Ambiguous warning becomes a timed integrity dilemma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F6552-7004-4DD2-9F43-CCCC500C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Eight phases reveal modeled effects and deadlines without automatic attribution.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BF3CA-CDD9-48C5-BAFC-5F9D5C2A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F7AB3-E493-4692-A504-65E15FF4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846C9-DD18-4E36-9454-620E0C7B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Normal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FF74F-C7C8-4549-B8B3-188E94B6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0F5D2-B8D3-4322-B03D-8914E9B9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47A0E-1352-4316-958C-EFC2BE26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Warning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DA828-A2BF-456A-B097-F90E2FF8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BC5E0-5B7F-4DD0-A3EF-374DC806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7C3BF-F450-478D-A977-D63702B4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Pre-position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C68755-E6D9-4EFC-A401-8827A9E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DD1DC-AD4B-42EB-8C68-8AA34FA3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16317-D576-46C1-838A-D784FE20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Disruption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1248B0-39EC-44B8-9942-441735B8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7CEFC-A602-4F8C-89BC-7EBCC8D3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5EB38D-F607-4E1D-AB9C-2EAE5071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Integrity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64747-E6E7-4573-B9A4-FE223A6F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95A6BB-C883-455A-8876-124CA910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94C590-6674-4CF8-B0C9-C609BD7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Containment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D4897-CD4C-4743-B921-A9E81A11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5282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AC5"/>
          </a:solidFill>
          <a:ln xmlns:a="http://schemas.openxmlformats.org/drawingml/2006/main" w="0">
            <a:solidFill>
              <a:srgbClr val="A9BA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AF331-1376-4C7E-BBD4-5E60D405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A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D2FF3A-4B60-4E7B-94C3-46726874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Recovery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34939E-E08E-4512-A350-5353B769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7A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2C37B8-6E04-4E0A-93F2-80E05A33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52875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102A43"/>
                </a:solidFill>
              </a:defRPr>
            </a:pPr>
            <a:r>
              <a:rPr sz="975" b="0">
                <a:solidFill>
                  <a:srgbClr val="102A43"/>
                </a:solidFill>
              </a:rPr>
              <a:t>Stabilize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2C9358-A68B-4448-B4E8-975CF717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905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C9832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020636-AC06-4C4B-ACFA-39786224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14900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Containment decision: preserve payment availability or suspend channels while integrity is uncertain?</a:t>
            </a:r>
          </a:p>
        </p:txBody>
      </p:sp>
    </p:spTree>
    <p:extLst>
      <p:ext uri="{BB962C8B-B14F-4D97-AF65-F5344CB8AC3E}">
        <p14:creationId xmlns:p14="http://schemas.microsoft.com/office/powerpoint/2010/main" val="620824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89219-98CB-4847-BDC7-A13FC9D2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358FA-A12B-40F7-8145-79D18739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62F39-71FC-4BC5-892F-8A34C2D9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8531D-3C2D-4A63-8F37-EA50C4B9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BE258-848A-469B-B7BD-A6EA252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8BEF6-F660-411E-97E0-7A3C4B19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00DD1E-3BC2-4113-8B1E-CCE321B6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Availability can preserve access while increasing financial uncertainty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5C279-F9C7-49FF-A591-E062286E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The containment choice must consider independently reconciled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48BEE0-3242-4CF9-9425-F18829B6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4F3"/>
          </a:solidFill>
          <a:ln xmlns:a="http://schemas.openxmlformats.org/drawingml/2006/main" w="1905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E6A88-6C96-4061-9317-8AB3C154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28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8C82"/>
                </a:solidFill>
              </a:defRPr>
            </a:pPr>
            <a:r>
              <a:rPr sz="1500" b="1">
                <a:solidFill>
                  <a:srgbClr val="118C82"/>
                </a:solidFill>
              </a:rPr>
              <a:t>KEEP CHANNEL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632B4-3131-4E68-AE0B-40ACFC1E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Preserves access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May increase unreconciled transactions and customer harm if data cannot be trusted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32176A-32DB-422A-ADEB-AA994433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B778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9B304-C711-49B1-8FC7-FB32C4A1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77832"/>
                </a:solidFill>
              </a:defRPr>
            </a:pPr>
            <a:r>
              <a:rPr sz="1500" b="1">
                <a:solidFill>
                  <a:srgbClr val="B77832"/>
                </a:solidFill>
              </a:rPr>
              <a:t>SUSPEND CHANNEL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3A0B91-EB68-4C5C-8E1E-CA252E4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24250"/>
            <a:ext cx="3238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Limits questionable posting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Creates immediate service disruption and manual-processing pressure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FBAA1-3C92-4AF5-A2E3-2148FF34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B7D"/>
                </a:solidFill>
              </a:defRPr>
            </a:pPr>
            <a:r>
              <a:rPr sz="1350" b="1">
                <a:solidFill>
                  <a:srgbClr val="315B7D"/>
                </a:solidFill>
              </a:rPr>
              <a:t>Decision evidence: journal integrity, independent reconciliation, customer harm and settlement obligations</a:t>
            </a:r>
          </a:p>
        </p:txBody>
      </p:sp>
    </p:spTree>
    <p:extLst>
      <p:ext uri="{BB962C8B-B14F-4D97-AF65-F5344CB8AC3E}">
        <p14:creationId xmlns:p14="http://schemas.microsoft.com/office/powerpoint/2010/main" val="3252539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A95F10-B6FE-4BBE-8CEE-B6C0DE5F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865B3-A5CB-434F-AF6D-AEEBAA06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1160A-E69A-4B47-A839-31187264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FE995-EA98-41F3-8D16-137218E6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RECOVERY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7E506-48D2-424B-B09D-B572A3F5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D346C-1D0B-4B0B-80C7-D284994A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317CB4-0183-4BD1-BC9F-899DEDA4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Production dependencies can follow the bank into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62AAC-34B1-46F9-B7E8-195040BC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Clean-room restoration is credible only when authority, name resolution, telemetry and evidence are independent.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CCA0C7-BA41-4CED-9545-5F740787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C9EA9-03B9-4B54-BB3F-1357A5FF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146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Replication can reproduce corruption.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4A94C-8724-4881-9056-4742AB3C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E97D0-76BD-471F-8D12-3D4FD9CB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9567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Backup availability does not prove transaction integrity.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35A4D-F112-4EB9-9938-CD99AFF9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6718D-C318-489E-B06F-FA0736AA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76725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Failover without monitoring reduces recovery confidence.</a:t>
            </a:r>
          </a:p>
        </p:txBody>
      </p:sp>
    </p:spTree>
    <p:extLst>
      <p:ext uri="{BB962C8B-B14F-4D97-AF65-F5344CB8AC3E}">
        <p14:creationId xmlns:p14="http://schemas.microsoft.com/office/powerpoint/2010/main" val="21005715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2A02EB-A475-492A-86C1-F5369C39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9404A-B2A3-4812-A562-A33D7AF9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859B4-B009-461F-B685-4C88A031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B700F-3678-4C75-9E71-E12A01BD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TARGET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FC4E0C-0B6B-4E11-A0F6-18EF838E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E5900-69EB-4154-A8E5-1EA625E5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12B00B-CA2F-4C1C-913A-12145DE8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Independent recovery removes the most consequential common modes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1464C-5F74-43E6-A660-52F4EE6B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The target state separates authority, infrastructure visibility and data validation from production.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18522-962E-468D-8993-585C5445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63D40"/>
                </a:solidFill>
              </a:defRPr>
            </a:pPr>
            <a:r>
              <a:rPr sz="1350" b="1">
                <a:solidFill>
                  <a:srgbClr val="A63D40"/>
                </a:solidFill>
              </a:rPr>
              <a:t>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2CA8A-BAFC-43EB-B6F9-40448348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37A5B"/>
                </a:solidFill>
              </a:defRPr>
            </a:pPr>
            <a:r>
              <a:rPr sz="1350" b="1">
                <a:solidFill>
                  <a:srgbClr val="337A5B"/>
                </a:solidFill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07B48-4B7B-4FCE-BC74-19AA7A90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2CEF7-E16B-4A90-B785-80FDB191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Production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0EF7E-5D40-4427-9D97-EB8549EA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8C100-9467-4B15-8FAC-09337733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Production DNS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62379-854C-4B71-A1F3-0A2C47CA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38B4D6-2C8A-41E9-8189-4197E073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Replicated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E150B-8A18-4694-8237-E7EBE319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BEB"/>
          </a:solidFill>
          <a:ln xmlns:a="http://schemas.openxmlformats.org/drawingml/2006/main" w="9525">
            <a:solidFill>
              <a:srgbClr val="A63D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082889-7C88-45E7-A17B-5345557C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0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Shared 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23AC83-B0E9-4EFC-8516-B268F2E4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C0CEA-E2E5-4EEF-B19A-31F4559B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Independent recovery 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D0A0F-CA99-441E-8366-57BE046C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475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13C34-26A2-44CA-AB72-9DB8E919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62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Independent name resolution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7E594-BC03-4D90-B30B-A24137EB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620E36-AE9F-4765-9F75-AF41C666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Offline integrity 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EE674-BDB8-41FA-B0CB-10A67BB9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337A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2D9D4-7381-4D2B-A6F2-DD63EB13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02A43"/>
                </a:solidFill>
              </a:defRPr>
            </a:pPr>
            <a:r>
              <a:rPr sz="1275" b="0">
                <a:solidFill>
                  <a:srgbClr val="102A43"/>
                </a:solidFill>
              </a:rPr>
              <a:t>Recovery-visible telemetry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9CA032-E9A6-4CA9-841F-CB0C6225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57625"/>
            <a:ext cx="1428750" cy="4762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92365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F40F32-9C43-4BC2-B4C6-A2754320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45AED-11BE-4E57-9B18-5603B169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217C2-86AA-4BBF-8CC5-BE1F058B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9A74F-2B4F-4AA6-8258-A296DC27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INVESTMENT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1B7EE-0E4C-4B45-B85B-B8D6D9D3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2C4C4E-60E1-4864-AC61-F317F8DF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909793-7742-4C2D-A345-DB38ACCB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Sequence investment to remove recovery common modes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3B8DA-DE1C-4CDC-8AD1-842D221E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Priorities are qualitative and traceable to declared dependency paths.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2E7A8-86B5-4046-913E-DB05589E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77832"/>
                </a:solidFill>
              </a:defRPr>
            </a:pPr>
            <a:r>
              <a:rPr sz="1125" b="1">
                <a:solidFill>
                  <a:srgbClr val="B77832"/>
                </a:solidFill>
              </a:rPr>
              <a:t>0-90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D7F2C-0F65-4483-9C97-F2A43B7C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95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19050">
            <a:solidFill>
              <a:srgbClr val="B778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43CB4-6444-40FF-BE94-BC0F64B7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33375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Approve Tier 0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Freeze unmanaged privilege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Validate clean credentials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561A0-FD6B-4B2F-8DED-4BDAE84F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05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ED17F3-FEA9-4F8D-8592-F3BCB4D0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7D"/>
                </a:solidFill>
              </a:defRPr>
            </a:pPr>
            <a:r>
              <a:rPr sz="1125" b="1">
                <a:solidFill>
                  <a:srgbClr val="315B7D"/>
                </a:solidFill>
              </a:rPr>
              <a:t>NEXT 2 QUARTERS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33E38-1EC7-4B99-A086-B48F3EE2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3FB2E-F1AD-4EB3-B890-9DBD525A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3375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Independent recovery identity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Immutable evidence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Manual payments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84496-0B41-4DE1-ADBB-FC021D30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810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5B912-BA7C-478B-AFCA-D42F4623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9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B7D"/>
                </a:solidFill>
              </a:defRPr>
            </a:pPr>
            <a:r>
              <a:rPr sz="1125" b="1">
                <a:solidFill>
                  <a:srgbClr val="315B7D"/>
                </a:solidFill>
              </a:rPr>
              <a:t>ONE YEAR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4A82C-286C-4D15-86D5-B29A2EFB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BD7D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A15CE-F0BC-49F3-BFEE-B8DBB424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333750"/>
            <a:ext cx="261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Provider substitution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Carrier diversity</a:t>
            </a:r>
          </a:p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Enterprise reconciliation</a:t>
            </a:r>
          </a:p>
        </p:txBody>
      </p:sp>
    </p:spTree>
    <p:extLst>
      <p:ext uri="{BB962C8B-B14F-4D97-AF65-F5344CB8AC3E}">
        <p14:creationId xmlns:p14="http://schemas.microsoft.com/office/powerpoint/2010/main" val="7874238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28ED3E-54A3-4615-9A69-29E2F9A5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0EC4A-DE0F-4AFA-962C-BF1B92F9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EB862-7565-408A-9674-95C3156E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2E086-2F3A-48D4-9D87-FA08C275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C7BF5-64B6-4207-93D3-ED07CB76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6926F-BF39-4606-B201-A5746918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85170B-2678-40D5-9DC1-C189EF5C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Board measures should test outcomes, not tool ownership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411B9-93AA-480E-9E60-2B6E6C75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Every measure needs an owner, evidence, threshold and trend.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72043-2880-4634-89B3-926ABEC5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Independent Tier 0 recovery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C87B7-238B-418A-9908-C4645A91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solidFill>
              <a:srgbClr val="C983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F0304-A048-4DA3-95FD-DD4320CD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955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UNVALIDATED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3BFEA-05BD-4329-A0F3-8C372DD9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955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C72B0-4460-490F-B202-6AA2F483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Privilege-disable decision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3AF45-E7BB-4911-AEFB-75320051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099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386"/>
          </a:solidFill>
          <a:ln xmlns:a="http://schemas.openxmlformats.org/drawingml/2006/main" w="0">
            <a:solidFill>
              <a:srgbClr val="55738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404FE-ABE7-4C48-AB22-A7B81B25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385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3CCE6-BA85-4511-AF14-651DCF04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385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B46C3-D73D-4EDA-8344-9B9009E7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529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Unreconciled transactions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D6A65-2A48-42C4-9137-0FA4A19B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5290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solidFill>
              <a:srgbClr val="B7783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78D61-62C0-45BD-8876-B93948E4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814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MONITOR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1D2DD-CBE0-4671-9E3F-DED0E6E4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814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4FF75-6A00-4D34-A560-5374F508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Third-party substitution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196D75-52DF-4F6F-B3A2-E67481AA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324"/>
          </a:solidFill>
          <a:ln xmlns:a="http://schemas.openxmlformats.org/drawingml/2006/main" w="0">
            <a:solidFill>
              <a:srgbClr val="C9832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D5627-30FA-444D-8028-C9DA252F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244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D9080-8FCF-4478-9C7F-4B614CF9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2442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7386"/>
                </a:solidFill>
              </a:defRPr>
            </a:pPr>
            <a:r>
              <a:rPr sz="1050" b="0">
                <a:solidFill>
                  <a:srgbClr val="557386"/>
                </a:solidFill>
              </a:rPr>
              <a:t>Owner + evidence + trend</a:t>
            </a:r>
          </a:p>
        </p:txBody>
      </p:sp>
    </p:spTree>
    <p:extLst>
      <p:ext uri="{BB962C8B-B14F-4D97-AF65-F5344CB8AC3E}">
        <p14:creationId xmlns:p14="http://schemas.microsoft.com/office/powerpoint/2010/main" val="15165806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6C3DFB-0392-4B38-807E-FD059408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7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solidFill>
              <a:srgbClr val="118C8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F914A-7FBB-4C7D-A33B-8F3BBA09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CONTINUUM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DD346-E79C-4579-916D-CEF831F4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18C82"/>
                </a:solidFill>
              </a:defRPr>
            </a:pPr>
            <a:r>
              <a:rPr sz="750" b="1">
                <a:solidFill>
                  <a:srgbClr val="118C82"/>
                </a:solidFill>
              </a:rPr>
              <a:t>RESILIENCE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771A4-DE92-466F-9AED-56416638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1950"/>
            <a:ext cx="2143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315B7D"/>
                </a:solidFill>
              </a:defRPr>
            </a:pPr>
            <a:r>
              <a:rPr sz="900" b="1">
                <a:solidFill>
                  <a:srgbClr val="315B7D"/>
                </a:solidFill>
              </a:rPr>
              <a:t>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1CF28-F999-4969-9B68-308A92E6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6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02A43"/>
                </a:solidFill>
              </a:defRPr>
            </a:pPr>
            <a:r>
              <a:rPr sz="900" b="1">
                <a:solidFill>
                  <a:srgbClr val="102A4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35FA9-6178-4844-90CA-4C68F38D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57386"/>
                </a:solidFill>
              </a:defRPr>
            </a:pPr>
            <a:r>
              <a:rPr sz="750" b="0">
                <a:solidFill>
                  <a:srgbClr val="557386"/>
                </a:solidFill>
              </a:rPr>
              <a:t>SYNTHETIC EXERCISE DATA - NOT A REAL BANK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8F0772-34C1-4914-8805-D44AAC49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Approve an evidence-led program with accountable owners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810F1-FA84-4AFA-A0F0-C1D2D42A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7386"/>
                </a:solidFill>
              </a:defRPr>
            </a:pPr>
            <a:r>
              <a:rPr sz="1350" b="0">
                <a:solidFill>
                  <a:srgbClr val="557386"/>
                </a:solidFill>
              </a:rPr>
              <a:t>Management should return with bounded milestones, validation criteria and residual-risk decisions.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659D60-68CB-4A82-8924-CA6CE934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81B3D-6279-45A0-BDE7-5911E724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7175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Approve recovery-independence priorities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38BB6-817A-4061-8AAB-960DFE6A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60032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8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3729A4-1628-4BCC-9149-FD0C5F92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2890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7CCE62-C5FD-4F1E-82A1-A46742DF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6329A-B9B5-46BE-81F1-8EDF0411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718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Require quarterly evidence against service tolerances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86FCB-9397-4ADA-B28D-90F0F63B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004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478E5-641A-4A83-8C3D-3B006BBF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6290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REQUIRE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E415B-F6D0-4752-9908-186E3A19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77832"/>
                </a:solidFill>
              </a:defRPr>
            </a:pPr>
            <a:r>
              <a:rPr sz="1875" b="1">
                <a:solidFill>
                  <a:srgbClr val="B7783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0DA8F-9854-4CF6-9CD5-122331B9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720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Revalidate Tier 0 after material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DD95B-3B14-4A7F-98E4-39BDA95E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005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4C3229-32B3-4CDA-BA79-0B16D416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29150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REQUIRE</a:t>
            </a:r>
          </a:p>
        </p:txBody>
      </p:sp>
    </p:spTree>
    <p:extLst>
      <p:ext uri="{BB962C8B-B14F-4D97-AF65-F5344CB8AC3E}">
        <p14:creationId xmlns:p14="http://schemas.microsoft.com/office/powerpoint/2010/main" val="346259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2026-08-12T21:13:55.6130000Z</dcterms:created>
  <dcterms:modified xsi:type="dcterms:W3CDTF">2026-08-12T21:13:55.6130000Z</dcterms:modified>
</coreProperties>
</file>