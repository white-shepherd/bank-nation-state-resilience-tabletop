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2dc98567ac4e68" /><Relationship Type="http://schemas.openxmlformats.org/officeDocument/2006/relationships/extended-properties" Target="/docProps/app.xml" Id="Rdffe69a4e3a34354" /><Relationship Type="http://schemas.openxmlformats.org/officeDocument/2006/relationships/officeDocument" Target="/ppt/presentation.xml" Id="R22f0559498ac4c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5e54fecb84f84"/>
    <p:sldMasterId xmlns:r="http://schemas.openxmlformats.org/officeDocument/2006/relationships" id="2147483650" r:id="R8dfba31f117041c2"/>
  </p:sldMasterIdLst>
  <p:notesMasterIdLst>
    <p:notesMasterId xmlns:r="http://schemas.openxmlformats.org/officeDocument/2006/relationships" r:id="R618b95bbb1984d11"/>
  </p:notesMasterIdLst>
  <p:sldIdLst>
    <p:sldId xmlns:r="http://schemas.openxmlformats.org/officeDocument/2006/relationships" id="256" r:id="Rb00b25b14fd549e4"/>
    <p:sldId xmlns:r="http://schemas.openxmlformats.org/officeDocument/2006/relationships" id="257" r:id="R5763633b30d94d6f"/>
    <p:sldId xmlns:r="http://schemas.openxmlformats.org/officeDocument/2006/relationships" id="258" r:id="R3a9d312114ba4470"/>
    <p:sldId xmlns:r="http://schemas.openxmlformats.org/officeDocument/2006/relationships" id="259" r:id="Rd6c12bff9848409b"/>
    <p:sldId xmlns:r="http://schemas.openxmlformats.org/officeDocument/2006/relationships" id="260" r:id="R4de80e2def3041af"/>
    <p:sldId xmlns:r="http://schemas.openxmlformats.org/officeDocument/2006/relationships" id="261" r:id="Ra910238c5b164f4a"/>
    <p:sldId xmlns:r="http://schemas.openxmlformats.org/officeDocument/2006/relationships" id="262" r:id="R33c16e9b293545de"/>
    <p:sldId xmlns:r="http://schemas.openxmlformats.org/officeDocument/2006/relationships" id="263" r:id="R7b814de994c148d7"/>
    <p:sldId xmlns:r="http://schemas.openxmlformats.org/officeDocument/2006/relationships" id="264" r:id="R2f2de319d1dc44aa"/>
    <p:sldId xmlns:r="http://schemas.openxmlformats.org/officeDocument/2006/relationships" id="265" r:id="Re7d2a2e23a1e4ecf"/>
    <p:sldId xmlns:r="http://schemas.openxmlformats.org/officeDocument/2006/relationships" id="266" r:id="R0b7ab7fecdb94454"/>
    <p:sldId xmlns:r="http://schemas.openxmlformats.org/officeDocument/2006/relationships" id="267" r:id="Racfe37d26dd04445"/>
    <p:sldId xmlns:r="http://schemas.openxmlformats.org/officeDocument/2006/relationships" id="268" r:id="Rabc0a9b6570143e5"/>
    <p:sldId xmlns:r="http://schemas.openxmlformats.org/officeDocument/2006/relationships" id="269" r:id="Re01ee235f2b2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9ccdd19d44956" /><Relationship Type="http://schemas.openxmlformats.org/officeDocument/2006/relationships/slideMaster" Target="/ppt/slideMasters/slideMaster1.xml" Id="R2ea5e54fecb84f84" /><Relationship Type="http://schemas.openxmlformats.org/officeDocument/2006/relationships/slideMaster" Target="/ppt/slideMasters/slideMaster2.xml" Id="R8dfba31f117041c2" /><Relationship Type="http://schemas.openxmlformats.org/officeDocument/2006/relationships/notesMaster" Target="/ppt/notesMasters/notesMaster1.xml" Id="R618b95bbb1984d11" /><Relationship Type="http://schemas.openxmlformats.org/officeDocument/2006/relationships/presProps" Target="/ppt/presProps.xml" Id="R42e86067bd394ae3" /><Relationship Type="http://schemas.openxmlformats.org/officeDocument/2006/relationships/tableStyles" Target="/ppt/tableStyles.xml" Id="R34924e18a5134966" /><Relationship Type="http://schemas.openxmlformats.org/officeDocument/2006/relationships/slide" Target="/ppt/slides/slide1.xml" Id="Rb00b25b14fd549e4" /><Relationship Type="http://schemas.openxmlformats.org/officeDocument/2006/relationships/slide" Target="/ppt/slides/slide2.xml" Id="R5763633b30d94d6f" /><Relationship Type="http://schemas.openxmlformats.org/officeDocument/2006/relationships/slide" Target="/ppt/slides/slide3.xml" Id="R3a9d312114ba4470" /><Relationship Type="http://schemas.openxmlformats.org/officeDocument/2006/relationships/slide" Target="/ppt/slides/slide4.xml" Id="Rd6c12bff9848409b" /><Relationship Type="http://schemas.openxmlformats.org/officeDocument/2006/relationships/slide" Target="/ppt/slides/slide5.xml" Id="R4de80e2def3041af" /><Relationship Type="http://schemas.openxmlformats.org/officeDocument/2006/relationships/slide" Target="/ppt/slides/slide6.xml" Id="Ra910238c5b164f4a" /><Relationship Type="http://schemas.openxmlformats.org/officeDocument/2006/relationships/slide" Target="/ppt/slides/slide7.xml" Id="R33c16e9b293545de" /><Relationship Type="http://schemas.openxmlformats.org/officeDocument/2006/relationships/slide" Target="/ppt/slides/slide8.xml" Id="R7b814de994c148d7" /><Relationship Type="http://schemas.openxmlformats.org/officeDocument/2006/relationships/slide" Target="/ppt/slides/slide9.xml" Id="R2f2de319d1dc44aa" /><Relationship Type="http://schemas.openxmlformats.org/officeDocument/2006/relationships/slide" Target="/ppt/slides/slide10.xml" Id="Re7d2a2e23a1e4ecf" /><Relationship Type="http://schemas.openxmlformats.org/officeDocument/2006/relationships/slide" Target="/ppt/slides/slide11.xml" Id="R0b7ab7fecdb94454" /><Relationship Type="http://schemas.openxmlformats.org/officeDocument/2006/relationships/slide" Target="/ppt/slides/slide12.xml" Id="Racfe37d26dd04445" /><Relationship Type="http://schemas.openxmlformats.org/officeDocument/2006/relationships/slide" Target="/ppt/slides/slide13.xml" Id="Rabc0a9b6570143e5" /><Relationship Type="http://schemas.openxmlformats.org/officeDocument/2006/relationships/slide" Target="/ppt/slides/slide14.xml" Id="Re01ee235f2b2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d43ead93db9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ba97188554cf5" /><Relationship Type="http://schemas.openxmlformats.org/officeDocument/2006/relationships/notesMaster" Target="/ppt/notesMasters/notesMaster1.xml" Id="R2346c09c352b41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f36a12abff41a4" /><Relationship Type="http://schemas.openxmlformats.org/officeDocument/2006/relationships/notesMaster" Target="/ppt/notesMasters/notesMaster1.xml" Id="Rbf7e3ca9ab97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f155b74aa4197" /><Relationship Type="http://schemas.openxmlformats.org/officeDocument/2006/relationships/notesMaster" Target="/ppt/notesMasters/notesMaster1.xml" Id="Re519cfa4f86f44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11f9d898cf4d9e" /><Relationship Type="http://schemas.openxmlformats.org/officeDocument/2006/relationships/notesMaster" Target="/ppt/notesMasters/notesMaster1.xml" Id="R5f1a60d5fd5747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b88f8d46f64369" /><Relationship Type="http://schemas.openxmlformats.org/officeDocument/2006/relationships/notesMaster" Target="/ppt/notesMasters/notesMaster1.xml" Id="Rb24b8c27a3ca49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423c98e8ce4a8a" /><Relationship Type="http://schemas.openxmlformats.org/officeDocument/2006/relationships/notesMaster" Target="/ppt/notesMasters/notesMaster1.xml" Id="R9ea9f37fdd6346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7822bfc68a4571" /><Relationship Type="http://schemas.openxmlformats.org/officeDocument/2006/relationships/notesMaster" Target="/ppt/notesMasters/notesMaster1.xml" Id="R9f497f83079a43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2ecbf68fe14f01" /><Relationship Type="http://schemas.openxmlformats.org/officeDocument/2006/relationships/notesMaster" Target="/ppt/notesMasters/notesMaster1.xml" Id="R4466aa351a534a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6f6c42d7694d53" /><Relationship Type="http://schemas.openxmlformats.org/officeDocument/2006/relationships/notesMaster" Target="/ppt/notesMasters/notesMaster1.xml" Id="Rb50f9ad852654e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5beb1b2ed94f0b" /><Relationship Type="http://schemas.openxmlformats.org/officeDocument/2006/relationships/notesMaster" Target="/ppt/notesMasters/notesMaster1.xml" Id="Ra84a0cbb681047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0129f8119d460d" /><Relationship Type="http://schemas.openxmlformats.org/officeDocument/2006/relationships/notesMaster" Target="/ppt/notesMasters/notesMaster1.xml" Id="Rfb9db24a001f41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db1edcc1104781" /><Relationship Type="http://schemas.openxmlformats.org/officeDocument/2006/relationships/notesMaster" Target="/ppt/notesMasters/notesMaster1.xml" Id="R24c4dbefeb2f49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9eb9e68c9947f0" /><Relationship Type="http://schemas.openxmlformats.org/officeDocument/2006/relationships/notesMaster" Target="/ppt/notesMasters/notesMaster1.xml" Id="R7a80ab8a589148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303f1785864171" /><Relationship Type="http://schemas.openxmlformats.org/officeDocument/2006/relationships/notesMaster" Target="/ppt/notesMasters/notesMaster1.xml" Id="R066836e81b8e49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c0a3f482c4f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d8fe1893b946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1c0ba2b89845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3a9494a26d47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4f9fe1efbb49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f66083dfe141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6513fa2ba148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1ef1fd815743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cb9b9ec7e04d6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432cf853f24d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d0baedd8ff4c5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b15aa731e541e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5d19bd19834f9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3f2e63ba22426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dc5d657ca84d1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0fac846ffc44f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d194748a7e47a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83fbfdc99d4dd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2feccc275d4c9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d38688b02c4da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eb318e2feb4d4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9629b9431343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Minimal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7D338BD-04C8-48A5-BA9E-1D83730B1A5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85B8803-02F8-42E4-8E67-DF82718F3A46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Executive takeawa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4E68FC0-3D5C-414B-AD64-A43940ABC6E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laim plus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B1977C2-15A0-4A97-8780-8C0C29E0775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Full-width ch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8AF992A-4677-4D05-A53A-412D5814152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Chart plus interpret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F386EE65-8DD4-4DEC-9619-278E9241A62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Architecture diagr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09FD5E6-E6A5-4AE0-8513-57D8AD7AAEC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Service-dependency 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9F72419-DCBB-433D-88D7-01F16D3D463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Current state versus target st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1972DD4-14DF-4180-8E9A-6AB988F8069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Risk concentr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3A170CB-DA13-495C-8FA3-F5A08BEDDA6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Scenario time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0F43083-5796-421E-839A-B56D5654BA5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Decision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B21F9D-A6D5-428E-93C7-5001C66BFC8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Three-option 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CD3CC79-C08D-4102-B625-DB6B70514E6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Investment road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1263620-09D6-477F-ADB3-408FB0FD24A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KPI or KRI score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D871120-0177-443B-91D8-D90A75779CD3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Before-and-after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FF931A51-72C6-440B-9CD4-17EEE0AF3BB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B1715D50-0431-40CD-A2BA-2A69CD0B1FC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Quote or governing princip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78E72D3-DF4F-4918-BD1B-E2FF8B97C00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>
  <p:cSld name="Closing recommen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DC4A4F1-D9E5-47AB-8082-B1C2B73CD12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Appendix detai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B226840-E48A-4A4E-BD2C-0367D7D4D51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Source and methodolog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DF13257-0B74-4EE7-858F-866DBB82BAA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1c55c438a14eb4" /><Relationship Type="http://schemas.openxmlformats.org/officeDocument/2006/relationships/slideLayout" Target="/ppt/slideLayouts/slideLayout1.xml" Id="R230dcfcac14048e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12c4f6114954ae1" /><Relationship Type="http://schemas.openxmlformats.org/officeDocument/2006/relationships/slideLayout" Target="/ppt/slideLayouts/slideLayout2.xml" Id="R7e28fd56a4f84b97" /><Relationship Type="http://schemas.openxmlformats.org/officeDocument/2006/relationships/slideLayout" Target="/ppt/slideLayouts/slideLayout3.xml" Id="Rcf117bb76f2841d2" /><Relationship Type="http://schemas.openxmlformats.org/officeDocument/2006/relationships/slideLayout" Target="/ppt/slideLayouts/slideLayout4.xml" Id="Reaf126653e584905" /><Relationship Type="http://schemas.openxmlformats.org/officeDocument/2006/relationships/slideLayout" Target="/ppt/slideLayouts/slideLayout5.xml" Id="R042a0096b9ca49fa" /><Relationship Type="http://schemas.openxmlformats.org/officeDocument/2006/relationships/slideLayout" Target="/ppt/slideLayouts/slideLayout6.xml" Id="R416c76228ca644f1" /><Relationship Type="http://schemas.openxmlformats.org/officeDocument/2006/relationships/slideLayout" Target="/ppt/slideLayouts/slideLayout7.xml" Id="Rd77a4edfb0c540a4" /><Relationship Type="http://schemas.openxmlformats.org/officeDocument/2006/relationships/slideLayout" Target="/ppt/slideLayouts/slideLayout8.xml" Id="Rbaf5db89c19f4f74" /><Relationship Type="http://schemas.openxmlformats.org/officeDocument/2006/relationships/slideLayout" Target="/ppt/slideLayouts/slideLayout9.xml" Id="Ra0da287cc3e54443" /><Relationship Type="http://schemas.openxmlformats.org/officeDocument/2006/relationships/slideLayout" Target="/ppt/slideLayouts/slideLayout10.xml" Id="R6b447392a4f74c76" /><Relationship Type="http://schemas.openxmlformats.org/officeDocument/2006/relationships/slideLayout" Target="/ppt/slideLayouts/slideLayout11.xml" Id="R8232c80e7a314492" /><Relationship Type="http://schemas.openxmlformats.org/officeDocument/2006/relationships/slideLayout" Target="/ppt/slideLayouts/slideLayout12.xml" Id="R6788e4d0b34444b5" /><Relationship Type="http://schemas.openxmlformats.org/officeDocument/2006/relationships/slideLayout" Target="/ppt/slideLayouts/slideLayout13.xml" Id="R80e44a6e3d2c4c26" /><Relationship Type="http://schemas.openxmlformats.org/officeDocument/2006/relationships/slideLayout" Target="/ppt/slideLayouts/slideLayout14.xml" Id="Rcd4cf619b5b74f6c" /><Relationship Type="http://schemas.openxmlformats.org/officeDocument/2006/relationships/slideLayout" Target="/ppt/slideLayouts/slideLayout15.xml" Id="R8efceb9cbd3a4f03" /><Relationship Type="http://schemas.openxmlformats.org/officeDocument/2006/relationships/slideLayout" Target="/ppt/slideLayouts/slideLayout16.xml" Id="R07418ce9af814136" /><Relationship Type="http://schemas.openxmlformats.org/officeDocument/2006/relationships/slideLayout" Target="/ppt/slideLayouts/slideLayout17.xml" Id="R30228dcdd0984232" /><Relationship Type="http://schemas.openxmlformats.org/officeDocument/2006/relationships/slideLayout" Target="/ppt/slideLayouts/slideLayout18.xml" Id="Rb4c3348081a248f0" /><Relationship Type="http://schemas.openxmlformats.org/officeDocument/2006/relationships/slideLayout" Target="/ppt/slideLayouts/slideLayout19.xml" Id="R5219c3758a854127" /><Relationship Type="http://schemas.openxmlformats.org/officeDocument/2006/relationships/slideLayout" Target="/ppt/slideLayouts/slideLayout20.xml" Id="R485b1b4303804b45" /><Relationship Type="http://schemas.openxmlformats.org/officeDocument/2006/relationships/slideLayout" Target="/ppt/slideLayouts/slideLayout21.xml" Id="R325df587ed544f8c" /><Relationship Type="http://schemas.openxmlformats.org/officeDocument/2006/relationships/slideLayout" Target="/ppt/slideLayouts/slideLayout22.xml" Id="R86ae4125efa440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0dcfcac14048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ntinuum Resilience Master"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e28fd56a4f84b97"/>
    <p:sldLayoutId xmlns:r="http://schemas.openxmlformats.org/officeDocument/2006/relationships" id="2147483652" r:id="Rcf117bb76f2841d2"/>
    <p:sldLayoutId xmlns:r="http://schemas.openxmlformats.org/officeDocument/2006/relationships" id="2147483653" r:id="Reaf126653e584905"/>
    <p:sldLayoutId xmlns:r="http://schemas.openxmlformats.org/officeDocument/2006/relationships" id="2147483654" r:id="R042a0096b9ca49fa"/>
    <p:sldLayoutId xmlns:r="http://schemas.openxmlformats.org/officeDocument/2006/relationships" id="2147483655" r:id="R416c76228ca644f1"/>
    <p:sldLayoutId xmlns:r="http://schemas.openxmlformats.org/officeDocument/2006/relationships" id="2147483656" r:id="Rd77a4edfb0c540a4"/>
    <p:sldLayoutId xmlns:r="http://schemas.openxmlformats.org/officeDocument/2006/relationships" id="2147483657" r:id="Rbaf5db89c19f4f74"/>
    <p:sldLayoutId xmlns:r="http://schemas.openxmlformats.org/officeDocument/2006/relationships" id="2147483658" r:id="Ra0da287cc3e54443"/>
    <p:sldLayoutId xmlns:r="http://schemas.openxmlformats.org/officeDocument/2006/relationships" id="2147483659" r:id="R6b447392a4f74c76"/>
    <p:sldLayoutId xmlns:r="http://schemas.openxmlformats.org/officeDocument/2006/relationships" id="2147483660" r:id="R8232c80e7a314492"/>
    <p:sldLayoutId xmlns:r="http://schemas.openxmlformats.org/officeDocument/2006/relationships" id="2147483661" r:id="R6788e4d0b34444b5"/>
    <p:sldLayoutId xmlns:r="http://schemas.openxmlformats.org/officeDocument/2006/relationships" id="2147483662" r:id="R80e44a6e3d2c4c26"/>
    <p:sldLayoutId xmlns:r="http://schemas.openxmlformats.org/officeDocument/2006/relationships" id="2147483663" r:id="Rcd4cf619b5b74f6c"/>
    <p:sldLayoutId xmlns:r="http://schemas.openxmlformats.org/officeDocument/2006/relationships" id="2147483664" r:id="R8efceb9cbd3a4f03"/>
    <p:sldLayoutId xmlns:r="http://schemas.openxmlformats.org/officeDocument/2006/relationships" id="2147483665" r:id="R07418ce9af814136"/>
    <p:sldLayoutId xmlns:r="http://schemas.openxmlformats.org/officeDocument/2006/relationships" id="2147483666" r:id="R30228dcdd0984232"/>
    <p:sldLayoutId xmlns:r="http://schemas.openxmlformats.org/officeDocument/2006/relationships" id="2147483667" r:id="Rb4c3348081a248f0"/>
    <p:sldLayoutId xmlns:r="http://schemas.openxmlformats.org/officeDocument/2006/relationships" id="2147483668" r:id="R5219c3758a854127"/>
    <p:sldLayoutId xmlns:r="http://schemas.openxmlformats.org/officeDocument/2006/relationships" id="2147483669" r:id="R485b1b4303804b45"/>
    <p:sldLayoutId xmlns:r="http://schemas.openxmlformats.org/officeDocument/2006/relationships" id="2147483670" r:id="R325df587ed544f8c"/>
    <p:sldLayoutId xmlns:r="http://schemas.openxmlformats.org/officeDocument/2006/relationships" id="2147483671" r:id="R86ae4125efa4409c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7fcea96d840b1" /><Relationship Type="http://schemas.openxmlformats.org/officeDocument/2006/relationships/notesSlide" Target="/ppt/notesSlides/notesSlide1.xml" Id="R0d6eac74945941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e396888fa46e2" /><Relationship Type="http://schemas.openxmlformats.org/officeDocument/2006/relationships/notesSlide" Target="/ppt/notesSlides/notesSlide2.xml" Id="R4ba8f6edc81144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606b6964f49fa" /><Relationship Type="http://schemas.openxmlformats.org/officeDocument/2006/relationships/notesSlide" Target="/ppt/notesSlides/notesSlide3.xml" Id="R05ad60f1821a49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713946a9540a0" /><Relationship Type="http://schemas.openxmlformats.org/officeDocument/2006/relationships/notesSlide" Target="/ppt/notesSlides/notesSlide4.xml" Id="R09897cd4031449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8f7817c804a95" /><Relationship Type="http://schemas.openxmlformats.org/officeDocument/2006/relationships/notesSlide" Target="/ppt/notesSlides/notesSlide5.xml" Id="R090faff58ecc44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1c9eb2ac54582" /><Relationship Type="http://schemas.openxmlformats.org/officeDocument/2006/relationships/notesSlide" Target="/ppt/notesSlides/notesSlide6.xml" Id="R01e5431c38a444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1166e810f4ef2" /><Relationship Type="http://schemas.openxmlformats.org/officeDocument/2006/relationships/notesSlide" Target="/ppt/notesSlides/notesSlide7.xml" Id="Ra7f0771dadbc40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fb3fddc844a02" /><Relationship Type="http://schemas.openxmlformats.org/officeDocument/2006/relationships/notesSlide" Target="/ppt/notesSlides/notesSlide8.xml" Id="R5b1d2483d86a4a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4fc54864f4333" /><Relationship Type="http://schemas.openxmlformats.org/officeDocument/2006/relationships/notesSlide" Target="/ppt/notesSlides/notesSlide9.xml" Id="Rdd36fafe29c64d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c050873d5416b" /><Relationship Type="http://schemas.openxmlformats.org/officeDocument/2006/relationships/notesSlide" Target="/ppt/notesSlides/notesSlide10.xml" Id="Rf452510f84634a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20509aa914718" /><Relationship Type="http://schemas.openxmlformats.org/officeDocument/2006/relationships/notesSlide" Target="/ppt/notesSlides/notesSlide11.xml" Id="R9e460f11230245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bac86316c489e" /><Relationship Type="http://schemas.openxmlformats.org/officeDocument/2006/relationships/notesSlide" Target="/ppt/notesSlides/notesSlide12.xml" Id="R7fa53141a0d740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b9683063c4145" /><Relationship Type="http://schemas.openxmlformats.org/officeDocument/2006/relationships/notesSlide" Target="/ppt/notesSlides/notesSlide13.xml" Id="R645ddbef92844b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73857ea654c47" /><Relationship Type="http://schemas.openxmlformats.org/officeDocument/2006/relationships/notesSlide" Target="/ppt/notesSlides/notesSlide14.xml" Id="R344d373b620d47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8355A-3137-40FA-98C9-FFA351CF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54950-2729-489C-B427-7D8FACE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68720-4D2D-42FA-B7AC-3BCE0E62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AEFA6-EB99-4811-B3AD-22B73C5E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BD6"/>
                </a:solidFill>
              </a:defRPr>
            </a:pPr>
            <a:r>
              <a:rPr sz="900" b="1">
                <a:solidFill>
                  <a:srgbClr val="B8CBD6"/>
                </a:solidFill>
              </a:rPr>
              <a:t>FACILITATOR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9355E-8F19-41A9-B365-8A1DD6C2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F5A4F-1DAF-45A9-A25A-14AFB93B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8CBD6"/>
                </a:solidFill>
              </a:defRPr>
            </a:pPr>
            <a:r>
              <a:rPr sz="750" b="0">
                <a:solidFill>
                  <a:srgbClr val="B8CBD6"/>
                </a:solidFill>
              </a:rPr>
              <a:t>SYNTHETIC EXERCISE DATA - NOT A REAL BANK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B2491-89C2-43DB-8AA6-CF03B95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Cyber Operational Resilience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Decision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CFB65-5DBF-4B9E-A5BE-FDA769A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DC5B4-C200-4C5A-B14D-B4B62407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D7DF"/>
                </a:solidFill>
              </a:defRPr>
            </a:pPr>
            <a:r>
              <a:rPr sz="1650" b="0">
                <a:solidFill>
                  <a:srgbClr val="C8D7DF"/>
                </a:solidFill>
              </a:rPr>
              <a:t>Run the synthetic nation-state disruption scenario and record accountable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5B954-6016-4A3D-BD65-B7264132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832"/>
                </a:solidFill>
              </a:defRPr>
            </a:pPr>
            <a:r>
              <a:rPr sz="1050" b="1">
                <a:solidFill>
                  <a:srgbClr val="B77832"/>
                </a:solidFill>
              </a:rPr>
              <a:t>HARBOR RIDGE BANK | FICTIONAL DEMONSTRATION CLIENT</a:t>
            </a:r>
          </a:p>
        </p:txBody>
      </p:sp>
    </p:spTree>
    <p:extLst>
      <p:ext uri="{BB962C8B-B14F-4D97-AF65-F5344CB8AC3E}">
        <p14:creationId xmlns:p14="http://schemas.microsoft.com/office/powerpoint/2010/main" val="39826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E78EE-7B8E-4495-9FC6-3AC2D4CF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1A942-6F77-47CD-8BDB-C7EEE3A6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8B6E5-2216-4D9E-8AFF-1EB102F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F0D52-014E-4B2B-8247-BA5A33F0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EXERCISE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B3141-9738-4F8A-A522-A3F44A2E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5FC18-C8AA-4AF9-8A2D-6E9C6156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FC218-D20A-4829-B1CF-75EDD335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Test decisions under ambiguity without assuming attribution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29162-1EB0-46F5-BF0B-3F6441E7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Participants should protect customers and obligations while evidence remains incomplete.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61D03-1EB2-4480-A7AC-9B9B9B2C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exercise tests governance, containment and recovery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75685-CFDB-4FD4-B975-8FCAE36C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solidFill>
              <a:srgbClr val="B778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6222A-76CF-4A33-839E-0CDCFE0F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28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B7D"/>
                </a:solidFill>
              </a:defRPr>
            </a:pPr>
            <a:r>
              <a:rPr sz="1500" b="1">
                <a:solidFill>
                  <a:srgbClr val="315B7D"/>
                </a:solidFill>
              </a:rPr>
              <a:t>It does not teach intrusion methods or represent a real bank.</a:t>
            </a:r>
          </a:p>
        </p:txBody>
      </p:sp>
    </p:spTree>
    <p:extLst>
      <p:ext uri="{BB962C8B-B14F-4D97-AF65-F5344CB8AC3E}">
        <p14:creationId xmlns:p14="http://schemas.microsoft.com/office/powerpoint/2010/main" val="2109161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269B2-47E7-4D1D-9193-981273A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38E52-807C-456F-A73C-B6C6B65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7FF18-55E8-4B23-A2D8-D141C91E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09157-5EC9-43A8-9268-ECF04871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FA800-29F6-4636-BA94-4FAE2266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28368-0428-4AAB-B9FD-B207A0C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643ED5-F2E1-47AF-8234-C2EFFC0E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Evidence is revealed progressively and decisions are recorded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E3A07-5105-416D-B4B6-B273AAA9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State assumptions, dissent, residual risk and evidence required for each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D4A5A-EF2B-4735-AA34-368F1F2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652E9-5AB2-4D80-9651-9480A42E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Do not invent missing facts.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A9289-B6F3-4D2C-A2E6-4430D3F4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256B8-0C2A-4D50-8F8C-E545093C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Weak signals do not confirm nation-state activity.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963FA-AA7A-448C-8511-0EB2CC06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752FE-B2CC-483E-953F-A3FD600D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Legal and regulatory timing requires jurisdictional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069A8-BF66-4873-803C-50ADAB24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8605E-FCD9-44A2-AF44-A1E7B5DF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577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The facilitator does not automatically propagate undeclared failure.</a:t>
            </a:r>
          </a:p>
        </p:txBody>
      </p:sp>
    </p:spTree>
    <p:extLst>
      <p:ext uri="{BB962C8B-B14F-4D97-AF65-F5344CB8AC3E}">
        <p14:creationId xmlns:p14="http://schemas.microsoft.com/office/powerpoint/2010/main" val="1663422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3FE29-39C5-412E-9082-DFC2FD8F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1A07B-C185-4548-94D4-32348FA7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76921-3F8D-4453-A4E3-358D01A1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EAA3C-9099-49FF-A39D-93B5F97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8E94C-BE33-4FBE-89E2-B7AC64E5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A838A-A3B0-4413-9705-11BF9FB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9AD616-8F44-4E7F-8ACF-6F05D344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Decision ownership must remain explicit under time pressure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13080-C809-43EF-8D91-E24C7751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Incident command coordinates business, technology, risk, legal and communications roles.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D6740-F16F-48CA-BEEE-71BCA6C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80DDB-8A58-4680-B73C-09EA784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Incident commander: integrates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67A14-AEF9-43D0-924A-7171A997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90749-5EEE-48AC-8F21-E0259DBF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Business owners: approve service consequences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35F59-484E-4C62-A4FA-25E6FCC8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CDF4B-10BC-4FB2-8EDC-26E787D2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Technical teams: execute bounded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04073-967C-47D2-968D-C704BDB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C8150-70FE-42A2-AE1A-02A364FD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577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Risk and legal: frame evidence and obligations</a:t>
            </a:r>
          </a:p>
        </p:txBody>
      </p:sp>
    </p:spTree>
    <p:extLst>
      <p:ext uri="{BB962C8B-B14F-4D97-AF65-F5344CB8AC3E}">
        <p14:creationId xmlns:p14="http://schemas.microsoft.com/office/powerpoint/2010/main" val="804957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A38C44-7BC0-4E1D-A552-F418397E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2628F-14B8-4328-931A-6E9FEED2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C76AC-4FFD-4D5A-AEC3-E744F66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93D99-C67E-4B98-89EE-5F75958D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7FCE8-2149-48CE-9EBF-260B3C4A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9561A-B83A-498B-A453-EAAF9F37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9F4D4A-332C-4A48-9066-3D4CD65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Strategic warning evolves into coordinated disruption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2AEC9-046C-4D3D-BED7-26478930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The eight-phase control moves from normal operations through stabilization.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6B707-3B11-4F41-89AB-B523889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07A3C-6A26-4277-B91B-DBAE6CB2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97B71-1785-4F26-B9D8-B1ACF8E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Normal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3B562-96B0-4A52-8F66-FE259663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7DE6C-258C-479A-8923-0D73DD3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A0E25-A281-4F35-A9D6-FF43E863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Warning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9C5E4-165E-43E0-838D-7B7F77CE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B4AE5-F09D-4BC3-8704-4DB1B347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C769B-8FA8-4907-9C32-C9927CEB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Pre-position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55846-7A67-4A79-A401-35D01D9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E6807-4133-4C91-9F25-D3E5E8D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CD5BC-A668-4B21-9616-266E97DF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Disruption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81BF0-3581-4F93-B4DE-A1D9DFA3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3AC75-C0E3-48BF-B0C7-F2006872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B0B96-E9BB-48FB-871E-8AA5D9AD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Integrity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6B6E9-481D-434B-80ED-8A03B779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76861-F10F-4EC0-AEC9-11FAE88A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E3007F-B343-4E3D-9214-7ED19FD8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Containment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793BE3-A814-4D3C-B592-ABC3AF76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D2D01-F97F-4DF0-BF9C-6FCE20FC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A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FB5E4-8E87-4045-8596-F3F1CE25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Recovery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4A9F8-D094-4211-87A5-05DDCBC4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A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0C871-3073-4B6D-A7CC-223576A7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Stabilize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59D20-2B86-49EE-9C33-4B1643F1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90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785253-2E49-4376-9AD2-AE916F83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1490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Containment decision: preserve payment availability or suspend channels while integrity is uncertain?</a:t>
            </a:r>
          </a:p>
        </p:txBody>
      </p:sp>
    </p:spTree>
    <p:extLst>
      <p:ext uri="{BB962C8B-B14F-4D97-AF65-F5344CB8AC3E}">
        <p14:creationId xmlns:p14="http://schemas.microsoft.com/office/powerpoint/2010/main" val="1836871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CBEA0-328C-4F5C-8423-3EEC794C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D5BA6-E0D1-4536-A3C1-3DDA2907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34C67-D4B8-4DFC-96C9-3972B8E0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5A470-4B4B-4F38-BEBA-E3E730F9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B3BF8-BBE8-4AC4-AE7C-6E8DAF92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1CFF8-A297-47B9-950D-85B4D351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D6ED07-D5DC-4372-BAEA-B0CE3671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Strategic warning should change posture without proving attribution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6FA02-0080-4DFC-85B4-75493A77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Review administrative privilege, external signals and decision readiness.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F061D-5D7F-4338-BDDC-EDA2676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FDF07-9698-4628-BA2F-FF3CCA0E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Reveal government and sector warning.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B5229-9F9F-4B5D-BD2B-C5FD1449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0CBC6-FA99-4296-BEBA-7FD1C6A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Ask whether to raise threat posture.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29D97-EECF-486B-8E6B-C842E968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71C8A-89D4-4E46-A159-E76DC826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Record evidence and dissent.</a:t>
            </a:r>
          </a:p>
        </p:txBody>
      </p:sp>
    </p:spTree>
    <p:extLst>
      <p:ext uri="{BB962C8B-B14F-4D97-AF65-F5344CB8AC3E}">
        <p14:creationId xmlns:p14="http://schemas.microsoft.com/office/powerpoint/2010/main" val="1102695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45689-9CA3-47DE-B748-275BBAC8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9BC39-79D5-4E9C-8589-0DF0EC14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DF029-C9FF-4840-9009-79E69C9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A4D3D-D8D2-444D-9C27-C2048F2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PHASE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83A80-36C2-4A43-A948-02571FE2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4AC6-7166-4188-AC1B-8D04E95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063CF5-8E49-4B9F-A5BB-9EAC0DD4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Ambiguous pre-positioning tests escalation discipline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97D37-2782-4E5E-88AA-81A77373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Correlated but incomplete signals should reach accountable owners.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F627D-238C-4884-AAA1-0EAD21EF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F906C-82B8-4887-BFB8-CB8D06A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Reveal identity and network anomalies.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0A962-97B4-47DC-9DBD-039731C7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714F6-64BB-439E-A65D-DC01D5A9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Test detecting tools and receiving teams.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A77EA-89C2-499C-9829-701B27F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2EEA8-E3F2-49BA-8E13-BAAB867A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Start the configured decision timer.</a:t>
            </a:r>
          </a:p>
        </p:txBody>
      </p:sp>
    </p:spTree>
    <p:extLst>
      <p:ext uri="{BB962C8B-B14F-4D97-AF65-F5344CB8AC3E}">
        <p14:creationId xmlns:p14="http://schemas.microsoft.com/office/powerpoint/2010/main" val="2001951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40C99-291D-4E69-BA63-C6FD073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D6519-C5A1-45C9-934D-DF2A62B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E06A7-2A82-4134-9730-EE92C66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AB128-37F9-4BF8-83A7-10FA671F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PHASE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F4BA0-526F-4558-A278-DFCED94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19BA7-045F-4572-B8CC-356D835B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5E59F2-3828-4569-966B-723CCEF0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Coordinated disruption forces service prioritization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4C15A-541A-4AD7-BD00-7B3B832C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Customer access and payment effects expose shared dependencies.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4C161-F189-44D9-AE01-688C450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5C5FA-685B-4FF5-8B30-C14528CB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EB1DF-F3E7-4ACF-8116-6344B26E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EE675-7BD4-4957-BF78-17594024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EB8F0-D52C-40D5-AADF-514E6FE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831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998CE-C126-4DB8-94C4-4B87429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577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47BFA-E21E-4DA8-A071-4F4131E2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E8B10-4AB5-4AD9-94DF-E8C5B88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Customer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D36D4-7B1D-43E9-BE50-188318A6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A75CB-7C7E-4A4F-A349-81D4F78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Money movement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5E59A-CC57-45C8-BBA0-C9D7B79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C191F-FB71-453C-98DD-F61C9C0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Financial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2DB50-93E3-4EE1-B42B-B9CD041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22AA0-F7DB-4DBA-B52B-3A8216C5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9465F-57F8-4F8E-8875-1BBF7A5C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4333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28575">
            <a:solidFill>
              <a:srgbClr val="B778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83DFD-31CB-41E6-B6BF-3C112BC8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Enterprise identity provider: 7 declared critical relationships</a:t>
            </a:r>
          </a:p>
        </p:txBody>
      </p:sp>
    </p:spTree>
    <p:extLst>
      <p:ext uri="{BB962C8B-B14F-4D97-AF65-F5344CB8AC3E}">
        <p14:creationId xmlns:p14="http://schemas.microsoft.com/office/powerpoint/2010/main" val="647787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BC541-E5D8-492B-AEAD-59F31C43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32233-46EE-481C-AD56-537AA656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66042-1D34-483B-AEFE-3E606696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7F4D8-95FD-4AD7-9ECB-1B97BDB1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PHASE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010EB-5C4A-4DF5-BC10-69320095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32A87-4A12-46C3-85CD-7D60ACF5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E496EF-821E-4715-9DA5-AF0E3B8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Integrity uncertainty changes the meaning of availability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3B909-E898-4C8D-AA59-672992E6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Participants must decide whether a functioning channel is safe to operate.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CC8D9-46B5-40A5-806F-1E92F5CE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4F3"/>
          </a:solidFill>
          <a:ln xmlns:a="http://schemas.openxmlformats.org/drawingml/2006/main" w="1905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E961F-E5F2-4DD1-B475-18DDF560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8C82"/>
                </a:solidFill>
              </a:defRPr>
            </a:pPr>
            <a:r>
              <a:rPr sz="1500" b="1">
                <a:solidFill>
                  <a:srgbClr val="118C82"/>
                </a:solidFill>
              </a:rPr>
              <a:t>KEEP CHANNEL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C2CB8-BA15-466C-99B3-1BBC1DC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Preserves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May increase unreconciled transactions and customer harm if data cannot be trusted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AE0F0-157A-49DA-B89E-97E75A5B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B778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AB1AC-CB35-4788-A58A-A81EE585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7832"/>
                </a:solidFill>
              </a:defRPr>
            </a:pPr>
            <a:r>
              <a:rPr sz="1500" b="1">
                <a:solidFill>
                  <a:srgbClr val="B77832"/>
                </a:solidFill>
              </a:rPr>
              <a:t>SUSPEND 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23CA2-8A26-494B-A9AE-DBA8C75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Limits questionable posting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Creates immediate service disruption and manual-processing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C3AC7-AC59-4516-BD1F-B8A958E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Decision evidence: journal integrity, independent reconciliation, customer harm and settlement obligations</a:t>
            </a:r>
          </a:p>
        </p:txBody>
      </p:sp>
    </p:spTree>
    <p:extLst>
      <p:ext uri="{BB962C8B-B14F-4D97-AF65-F5344CB8AC3E}">
        <p14:creationId xmlns:p14="http://schemas.microsoft.com/office/powerpoint/2010/main" val="795132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49D1F-4838-4FDA-9ADB-F96B00CA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CAD15-74A5-4977-94D8-6F2FC2A3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38CA8-B169-4CBA-B25F-B236C1F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50499-F017-4E54-B007-4FCCDA0D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PHASE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3BABF-EB9D-41E7-BD67-77F302ED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EDB4A-51D7-4591-BFE7-FE95BF12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F13E80-B0F5-45A8-81A7-2052A1D7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Containment trades immediate service for bounded 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AD3C5-C6DC-4E68-9543-9573541B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Record authority, deadline, selected action and operational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60BA2-CF62-461E-A245-7D7E636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CA071-36D6-4157-9C4C-DD214268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Isolate identity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1D199-2BF3-42F8-AF12-CB0CC50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003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9DFF0-3237-485F-87B3-4C5AB48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289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4DFA4-9A79-450C-BE2B-624569A7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38A27-1DFA-471D-8810-6F48AC04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718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Suspend selected payment channels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D7C58-9239-4700-8B35-837B87EE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00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4B3A7-6AB3-4274-ADD0-B3A2D2D3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290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B9AA9-F34A-40FB-A34A-324BD424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762D1-438D-4616-87E6-F5CC77A9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Invoke manual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E3B23-8B75-476F-881C-8D2C62B2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4CC17-9E54-493B-B355-0C3B708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29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</p:spTree>
    <p:extLst>
      <p:ext uri="{BB962C8B-B14F-4D97-AF65-F5344CB8AC3E}">
        <p14:creationId xmlns:p14="http://schemas.microsoft.com/office/powerpoint/2010/main" val="17881484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6FA18D-1EE3-4581-AE16-F5814B3D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E754E-C170-43ED-9241-2BF30900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1A0DC-9096-4E46-A1C6-D3D56CD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EBC2B-0052-4125-AA55-8622A06B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PHASE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179D5-C72C-476D-9963-99EA7740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0A6E8-DC55-4B36-B74D-C0C1A7F4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4A9CC0-35C5-429B-8A1B-3566B73D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Recovery begins with clean authority and trusted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F83B8-75A2-4551-A360-94809B82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Failover alone does not establish integrity.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2631-7AE2-4FC2-B081-5E4533AA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3D40"/>
                </a:solidFill>
              </a:defRPr>
            </a:pPr>
            <a:r>
              <a:rPr sz="1350" b="1">
                <a:solidFill>
                  <a:srgbClr val="A63D40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EE64E-C0F6-4AF8-BCAF-33E88C69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7A5B"/>
                </a:solidFill>
              </a:defRPr>
            </a:pPr>
            <a:r>
              <a:rPr sz="1350" b="1">
                <a:solidFill>
                  <a:srgbClr val="337A5B"/>
                </a:solidFill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C959F-D78E-44D0-B2F4-D00ABDE2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46887-5B57-4493-A18F-8363DB75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Production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3E304-292E-43A7-8A14-BFA384BB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FE710-F776-4664-AB24-DD962B44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Production DNS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055B3-3A36-431E-9CB3-30388CBB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2EBB9-DA1F-402F-897C-1C08F1C6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Replicated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4A844-6AA2-4C0D-9718-139AD422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1E28A-B8A1-4A7D-AE42-46BAFE7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Shared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859FE-659B-4C9A-8FE3-1E6B38F7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183BB-CB65-43FB-8F86-F9C42C7C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Independent recovery 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41BB-0436-4014-B527-72D76611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4C3FD-BDAE-499F-BD77-BC6E82AC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Independent name resolution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21760-9E32-4B1E-98B2-9F35C132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535C8-E04B-4B5E-808A-CB6EF216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Offline integrity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87EBC-C9DC-47B9-BD93-E9D47D3D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8C3E8-7A29-4F68-9A5D-7768B239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Recovery-visible telemetry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339A5-06CD-432B-90DC-7365CB3B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57625"/>
            <a:ext cx="1428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041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E106D-39FC-4CDA-98C1-D1EC5C4B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AB267-DBE7-48B2-ADD1-A3A70405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613B4-093A-46CC-9F48-0B29A1CD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2490F-50E2-4C1C-91AA-6A16CB5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BOARD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70206-1778-49F5-997E-D77C75D9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3ECD-3266-4411-8A61-E19B996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ADD706-61A6-4351-A61A-98846644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Executives need consequence, confidence and pending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1271F-B32E-4584-A5B3-CB2DBE8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Translate technical evidence into customer, payment, liquidity and recovery impact.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31CAC-7CA2-4777-9019-ED063240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Independent Tier 0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4A8E2-4415-4C5C-B371-20165ED8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solidFill>
              <a:srgbClr val="C983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0247B-47B7-4D07-A49C-EA4442AD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955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0EC97-9029-4716-9F3C-7CF26CAB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955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6F60A-5E5E-4247-91D9-951D52A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Privilege-disable decision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968C6-CC43-4BDC-B55E-FA43D4EB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10C84-459C-48B8-BCEA-0884A43F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385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F6175-E7CF-40A4-AB61-444E3C37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385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C7531-2576-4322-85C4-C036DA64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Unreconciled transactions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C3873-05B6-4A33-BAF0-E30C01C5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solidFill>
              <a:srgbClr val="B778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A0DE4-A082-4C3E-96ED-1BC4D6DA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814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7B6DD-6DD2-44CF-AF3F-EE58858A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814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49903-D77B-4CD2-8359-A69D2F3E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Third-party substitution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C8B1D-0D2C-4D09-BD69-8E0B6189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solidFill>
              <a:srgbClr val="C983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85B03-DED2-4189-9B27-8E1A25AE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AA768-2287-48D4-8FAC-FBABA97B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244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</p:spTree>
    <p:extLst>
      <p:ext uri="{BB962C8B-B14F-4D97-AF65-F5344CB8AC3E}">
        <p14:creationId xmlns:p14="http://schemas.microsoft.com/office/powerpoint/2010/main" val="13849956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AC72D-DF01-4083-B530-7AD9DE53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75EF5-67C2-492E-9DDC-FB58BD8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0184-5D1E-4D81-83AE-4B9480E3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37CE0-6792-4611-93B6-8B475E1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AFTER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18D8-038E-4CFF-950C-3150A04C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36ABB-5041-4F2D-88BC-52FADD9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DD6512-768E-4E96-9EB4-F73F95A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Every gap needs an owner and validation criterion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44C4B-9FBC-4342-BE90-4D8A414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Capture decisions, evidence gaps, corrective actions and residual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78E4C-E541-4AF1-AEFE-EC248864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832"/>
                </a:solidFill>
              </a:defRPr>
            </a:pPr>
            <a:r>
              <a:rPr sz="1125" b="1">
                <a:solidFill>
                  <a:srgbClr val="B77832"/>
                </a:solidFill>
              </a:rPr>
              <a:t>0-90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F69F1-5662-499B-B46A-6C11DBA5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B778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C847E-4701-42D4-B87A-4C32359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Approve Tier 0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Freeze unmanaged privilege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Validate clean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A0924-3ACF-408D-9F6A-DD6ADA2C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05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80BE8-A282-4F38-86F5-EB26BFD3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7D"/>
                </a:solidFill>
              </a:defRPr>
            </a:pPr>
            <a:r>
              <a:rPr sz="1125" b="1">
                <a:solidFill>
                  <a:srgbClr val="315B7D"/>
                </a:solidFill>
              </a:rPr>
              <a:t>NEXT 2 QUARTERS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F6B5A-7CD1-49C9-A050-C9D3694B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EA929-D66E-45F2-ABF5-2C4AF4FE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Independent recovery identity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Immutable evidence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Manual payments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5C522-9EFC-47A5-BEF0-D17FC043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77799-3781-424A-8601-7688CB8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7D"/>
                </a:solidFill>
              </a:defRPr>
            </a:pPr>
            <a:r>
              <a:rPr sz="1125" b="1">
                <a:solidFill>
                  <a:srgbClr val="315B7D"/>
                </a:solidFill>
              </a:rPr>
              <a:t>ONE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3B81F-4892-451C-988A-860B7AC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DD1E1-6637-451A-B7EC-AFCB00B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Provider substitution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Carrier diversity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Enterprise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17438797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771BE-D368-406C-9F82-D9060A0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BC10C-C18F-4C38-B3A5-8336B799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BA861-14AB-498A-BE5C-B10D8208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A3CA4-D9E4-4891-A99E-99EF2EA4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21D72-C360-4EB9-824A-6632D2E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740EB-A3CD-4DED-8C1C-755F7866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5BB517-3A08-4415-A3F7-B08346FD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exercise ends when decisions and evidence are reviewable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54A07-4F80-465B-BD9E-069CB438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Do not convert facilitator observations into unsupported performance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45E82-4EC2-499A-BEFE-054FD3A8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79EA3-8A8E-4D5A-B72D-F8CC8250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Confirm decision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FE7D7-5F78-40D6-968D-5DCAC2B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003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80516-8A53-458B-A9F3-AEA4312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289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65055-8EE1-4D9D-AD8D-0F9C177D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95F1F-3F96-4B19-B1B3-B610CF34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718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Assign corrective-action owners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586CE-26EE-4BDE-A0F5-70C8FE9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00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F554B-9371-4DBD-BCA9-45EC08D2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290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19630-00AC-43DC-9960-9AEB7E4A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0842E-FAD5-4296-BB66-851FACE4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Schedule validation and board follow-up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F2DFE-BB26-473E-96CB-230415D3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053D1-E711-4DA5-A34E-4E33D472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29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</p:spTree>
    <p:extLst>
      <p:ext uri="{BB962C8B-B14F-4D97-AF65-F5344CB8AC3E}">
        <p14:creationId xmlns:p14="http://schemas.microsoft.com/office/powerpoint/2010/main" val="1737533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2026-08-12T21:13:57.2100000Z</dcterms:created>
  <dcterms:modified xsi:type="dcterms:W3CDTF">2026-08-12T21:13:57.2100000Z</dcterms:modified>
</coreProperties>
</file>