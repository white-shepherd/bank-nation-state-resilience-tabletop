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f43e4dfc741e4" /><Relationship Type="http://schemas.openxmlformats.org/officeDocument/2006/relationships/extended-properties" Target="/docProps/app.xml" Id="R734dcff8e75c4687" /><Relationship Type="http://schemas.openxmlformats.org/officeDocument/2006/relationships/officeDocument" Target="/ppt/presentation.xml" Id="R83934ef3e4e747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99ede3a09411e"/>
    <p:sldMasterId xmlns:r="http://schemas.openxmlformats.org/officeDocument/2006/relationships" id="2147483650" r:id="Rdd1203d9c2314e70"/>
  </p:sldMasterIdLst>
  <p:notesMasterIdLst>
    <p:notesMasterId xmlns:r="http://schemas.openxmlformats.org/officeDocument/2006/relationships" r:id="R6729080c29f64fd8"/>
  </p:notesMasterIdLst>
  <p:sldIdLst>
    <p:sldId xmlns:r="http://schemas.openxmlformats.org/officeDocument/2006/relationships" id="256" r:id="Rf5c94ba9958a4d54"/>
    <p:sldId xmlns:r="http://schemas.openxmlformats.org/officeDocument/2006/relationships" id="257" r:id="R829d001951914f23"/>
    <p:sldId xmlns:r="http://schemas.openxmlformats.org/officeDocument/2006/relationships" id="258" r:id="R35e56f80892a4dd2"/>
    <p:sldId xmlns:r="http://schemas.openxmlformats.org/officeDocument/2006/relationships" id="259" r:id="Rb422b1472e7c4f5c"/>
    <p:sldId xmlns:r="http://schemas.openxmlformats.org/officeDocument/2006/relationships" id="260" r:id="R53e46c099fde442c"/>
    <p:sldId xmlns:r="http://schemas.openxmlformats.org/officeDocument/2006/relationships" id="261" r:id="R43f988f2f8974ab3"/>
    <p:sldId xmlns:r="http://schemas.openxmlformats.org/officeDocument/2006/relationships" id="262" r:id="Rd0750d4b10a44245"/>
    <p:sldId xmlns:r="http://schemas.openxmlformats.org/officeDocument/2006/relationships" id="263" r:id="Rce66107cc7234192"/>
    <p:sldId xmlns:r="http://schemas.openxmlformats.org/officeDocument/2006/relationships" id="264" r:id="R40ce8a0eea8b423d"/>
    <p:sldId xmlns:r="http://schemas.openxmlformats.org/officeDocument/2006/relationships" id="265" r:id="Rc1775f7aabf64429"/>
    <p:sldId xmlns:r="http://schemas.openxmlformats.org/officeDocument/2006/relationships" id="266" r:id="R1d9e35fed1d04c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0c690706e4bdb" /><Relationship Type="http://schemas.openxmlformats.org/officeDocument/2006/relationships/slideMaster" Target="/ppt/slideMasters/slideMaster1.xml" Id="Rc5799ede3a09411e" /><Relationship Type="http://schemas.openxmlformats.org/officeDocument/2006/relationships/slideMaster" Target="/ppt/slideMasters/slideMaster2.xml" Id="Rdd1203d9c2314e70" /><Relationship Type="http://schemas.openxmlformats.org/officeDocument/2006/relationships/notesMaster" Target="/ppt/notesMasters/notesMaster1.xml" Id="R6729080c29f64fd8" /><Relationship Type="http://schemas.openxmlformats.org/officeDocument/2006/relationships/presProps" Target="/ppt/presProps.xml" Id="R0482c48a00fa4828" /><Relationship Type="http://schemas.openxmlformats.org/officeDocument/2006/relationships/tableStyles" Target="/ppt/tableStyles.xml" Id="Rdde293e729714929" /><Relationship Type="http://schemas.openxmlformats.org/officeDocument/2006/relationships/slide" Target="/ppt/slides/slide1.xml" Id="Rf5c94ba9958a4d54" /><Relationship Type="http://schemas.openxmlformats.org/officeDocument/2006/relationships/slide" Target="/ppt/slides/slide2.xml" Id="R829d001951914f23" /><Relationship Type="http://schemas.openxmlformats.org/officeDocument/2006/relationships/slide" Target="/ppt/slides/slide3.xml" Id="R35e56f80892a4dd2" /><Relationship Type="http://schemas.openxmlformats.org/officeDocument/2006/relationships/slide" Target="/ppt/slides/slide4.xml" Id="Rb422b1472e7c4f5c" /><Relationship Type="http://schemas.openxmlformats.org/officeDocument/2006/relationships/slide" Target="/ppt/slides/slide5.xml" Id="R53e46c099fde442c" /><Relationship Type="http://schemas.openxmlformats.org/officeDocument/2006/relationships/slide" Target="/ppt/slides/slide6.xml" Id="R43f988f2f8974ab3" /><Relationship Type="http://schemas.openxmlformats.org/officeDocument/2006/relationships/slide" Target="/ppt/slides/slide7.xml" Id="Rd0750d4b10a44245" /><Relationship Type="http://schemas.openxmlformats.org/officeDocument/2006/relationships/slide" Target="/ppt/slides/slide8.xml" Id="Rce66107cc7234192" /><Relationship Type="http://schemas.openxmlformats.org/officeDocument/2006/relationships/slide" Target="/ppt/slides/slide9.xml" Id="R40ce8a0eea8b423d" /><Relationship Type="http://schemas.openxmlformats.org/officeDocument/2006/relationships/slide" Target="/ppt/slides/slide10.xml" Id="Rc1775f7aabf64429" /><Relationship Type="http://schemas.openxmlformats.org/officeDocument/2006/relationships/slide" Target="/ppt/slides/slide11.xml" Id="R1d9e35fed1d0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22781d74249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4416fb43e64361" /><Relationship Type="http://schemas.openxmlformats.org/officeDocument/2006/relationships/notesMaster" Target="/ppt/notesMasters/notesMaster1.xml" Id="R44e6d879541d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1d887454f47ab" /><Relationship Type="http://schemas.openxmlformats.org/officeDocument/2006/relationships/notesMaster" Target="/ppt/notesMasters/notesMaster1.xml" Id="R2f7cfcc6c6aa44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f7298fc604752" /><Relationship Type="http://schemas.openxmlformats.org/officeDocument/2006/relationships/notesMaster" Target="/ppt/notesMasters/notesMaster1.xml" Id="Re10a32518971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63e3dafe774aaa" /><Relationship Type="http://schemas.openxmlformats.org/officeDocument/2006/relationships/notesMaster" Target="/ppt/notesMasters/notesMaster1.xml" Id="Rff5c5ce160d14e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e02bf2d2794767" /><Relationship Type="http://schemas.openxmlformats.org/officeDocument/2006/relationships/notesMaster" Target="/ppt/notesMasters/notesMaster1.xml" Id="R0224b1dd896249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02452dae34da5" /><Relationship Type="http://schemas.openxmlformats.org/officeDocument/2006/relationships/notesMaster" Target="/ppt/notesMasters/notesMaster1.xml" Id="Ra926ad6d29ce4c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0b49a52909418e" /><Relationship Type="http://schemas.openxmlformats.org/officeDocument/2006/relationships/notesMaster" Target="/ppt/notesMasters/notesMaster1.xml" Id="R2b3529a3b0884f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5f092ab3e341df" /><Relationship Type="http://schemas.openxmlformats.org/officeDocument/2006/relationships/notesMaster" Target="/ppt/notesMasters/notesMaster1.xml" Id="R81c0192ac4e143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9f7b77616b476e" /><Relationship Type="http://schemas.openxmlformats.org/officeDocument/2006/relationships/notesMaster" Target="/ppt/notesMasters/notesMaster1.xml" Id="R98bb26307a2041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827dbb295b4e5d" /><Relationship Type="http://schemas.openxmlformats.org/officeDocument/2006/relationships/notesMaster" Target="/ppt/notesMasters/notesMaster1.xml" Id="Rbbb5a76eb3854e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560498f8ed4cfe" /><Relationship Type="http://schemas.openxmlformats.org/officeDocument/2006/relationships/notesMaster" Target="/ppt/notesMasters/notesMaster1.xml" Id="Rb43076e1002c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48b98e5684d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4d0aedd2b346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00384957574b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caade224db4b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637236b7a64b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7c7da287204d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706791c43749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bee466ea4e46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5984bc131a4de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6491768ff540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956ebbcafd47b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512607c7eb414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41e56c620a4d6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e4fe0cafd6472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6d1a2a16ec41d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b837e4b52d468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2368ef989b4be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6a3f8bdd15411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65d0a7a1c84fa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2ef376bf0d45d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b20084fc1645b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a11329eebc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nimal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C29C135-F3E7-4509-BFFE-018AC426D8B8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C97737D-61FE-4782-AD21-DC1BE28A166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Executive takeawa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B032AD9-16A9-40E5-BE1F-D39C18448B2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laim plus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8AF408F-45A4-4B3E-B5D0-A01A20F2AA7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Full-width 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109A25D-8549-4F89-BAC8-A0AC34F719C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Chart plus interpre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2C7FBE9-3D43-4C4E-A0EF-E5C8D99A60D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Architecture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99A26C1-B6B6-4629-9CFE-8FC82EF8D07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Service-dependency 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C4D2989-A4D7-4F65-85FC-9E4D7A65C77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Current state versus target st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267EA72-DDF4-416D-A41B-C3147187BBA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Risk concentr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1E2CD7A-2559-4838-8920-D5F32370830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Scenario time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6D89B1E-B722-44D1-9709-3EC82122659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Decision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114E491-3C9C-435F-B905-3C9FDDEA627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Three-option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B19BC23-8156-4282-93B8-A96A013B3B3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Investment 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C0D5A45-6400-472F-9AEC-2CFFEE12A63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KPI or KRI score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ED3149B-3E2C-4C4E-A702-0C354F0FB5E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Before-and-after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F2C14C0-B3C2-441A-B957-34EEB0E309C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C769617-B9E9-4F7F-A0E9-5882518EF5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Quote or governing princip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3433D2D-79D7-4B4D-9B4E-250C39EA69D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Closing recommen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4831460-8101-4A75-8409-C9C4A9A7AA3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Appendix detai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485ED20-DDBB-4634-8C74-EAE49E021C6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Source and methodolog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2006804-CC1B-41B5-9CF6-5327B7A882E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f501ba190a4eda" /><Relationship Type="http://schemas.openxmlformats.org/officeDocument/2006/relationships/slideLayout" Target="/ppt/slideLayouts/slideLayout1.xml" Id="R96e7c72f68054f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02d6b2e645c4aec" /><Relationship Type="http://schemas.openxmlformats.org/officeDocument/2006/relationships/slideLayout" Target="/ppt/slideLayouts/slideLayout2.xml" Id="R67a1176202fa412f" /><Relationship Type="http://schemas.openxmlformats.org/officeDocument/2006/relationships/slideLayout" Target="/ppt/slideLayouts/slideLayout3.xml" Id="R788f3c723cf64ab6" /><Relationship Type="http://schemas.openxmlformats.org/officeDocument/2006/relationships/slideLayout" Target="/ppt/slideLayouts/slideLayout4.xml" Id="R2ddb48ee18a944fe" /><Relationship Type="http://schemas.openxmlformats.org/officeDocument/2006/relationships/slideLayout" Target="/ppt/slideLayouts/slideLayout5.xml" Id="R52c7ca39a8374ec9" /><Relationship Type="http://schemas.openxmlformats.org/officeDocument/2006/relationships/slideLayout" Target="/ppt/slideLayouts/slideLayout6.xml" Id="R9a1a1048319f45f2" /><Relationship Type="http://schemas.openxmlformats.org/officeDocument/2006/relationships/slideLayout" Target="/ppt/slideLayouts/slideLayout7.xml" Id="Rb9ed5f3d490142ce" /><Relationship Type="http://schemas.openxmlformats.org/officeDocument/2006/relationships/slideLayout" Target="/ppt/slideLayouts/slideLayout8.xml" Id="Rc9bdb133e95d4b71" /><Relationship Type="http://schemas.openxmlformats.org/officeDocument/2006/relationships/slideLayout" Target="/ppt/slideLayouts/slideLayout9.xml" Id="R4f31b4a677d843d1" /><Relationship Type="http://schemas.openxmlformats.org/officeDocument/2006/relationships/slideLayout" Target="/ppt/slideLayouts/slideLayout10.xml" Id="R4b784d6fad7e4c6c" /><Relationship Type="http://schemas.openxmlformats.org/officeDocument/2006/relationships/slideLayout" Target="/ppt/slideLayouts/slideLayout11.xml" Id="R660a5e88bf684ced" /><Relationship Type="http://schemas.openxmlformats.org/officeDocument/2006/relationships/slideLayout" Target="/ppt/slideLayouts/slideLayout12.xml" Id="R0cac44eee60d41fa" /><Relationship Type="http://schemas.openxmlformats.org/officeDocument/2006/relationships/slideLayout" Target="/ppt/slideLayouts/slideLayout13.xml" Id="R882af1d20ce24ecb" /><Relationship Type="http://schemas.openxmlformats.org/officeDocument/2006/relationships/slideLayout" Target="/ppt/slideLayouts/slideLayout14.xml" Id="R06dbb83466064c5b" /><Relationship Type="http://schemas.openxmlformats.org/officeDocument/2006/relationships/slideLayout" Target="/ppt/slideLayouts/slideLayout15.xml" Id="R9fa02d333b2943aa" /><Relationship Type="http://schemas.openxmlformats.org/officeDocument/2006/relationships/slideLayout" Target="/ppt/slideLayouts/slideLayout16.xml" Id="R29d4bd032e124ae2" /><Relationship Type="http://schemas.openxmlformats.org/officeDocument/2006/relationships/slideLayout" Target="/ppt/slideLayouts/slideLayout17.xml" Id="R8af89d0c22dc4738" /><Relationship Type="http://schemas.openxmlformats.org/officeDocument/2006/relationships/slideLayout" Target="/ppt/slideLayouts/slideLayout18.xml" Id="R46087169ba684720" /><Relationship Type="http://schemas.openxmlformats.org/officeDocument/2006/relationships/slideLayout" Target="/ppt/slideLayouts/slideLayout19.xml" Id="Rd9017c8288a64a19" /><Relationship Type="http://schemas.openxmlformats.org/officeDocument/2006/relationships/slideLayout" Target="/ppt/slideLayouts/slideLayout20.xml" Id="R5e5ba0bdfe1e4c5e" /><Relationship Type="http://schemas.openxmlformats.org/officeDocument/2006/relationships/slideLayout" Target="/ppt/slideLayouts/slideLayout21.xml" Id="R91c80dda1226400d" /><Relationship Type="http://schemas.openxmlformats.org/officeDocument/2006/relationships/slideLayout" Target="/ppt/slideLayouts/slideLayout22.xml" Id="R8873a4b591c144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e7c72f6805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ntinuum Resilience Master"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7a1176202fa412f"/>
    <p:sldLayoutId xmlns:r="http://schemas.openxmlformats.org/officeDocument/2006/relationships" id="2147483652" r:id="R788f3c723cf64ab6"/>
    <p:sldLayoutId xmlns:r="http://schemas.openxmlformats.org/officeDocument/2006/relationships" id="2147483653" r:id="R2ddb48ee18a944fe"/>
    <p:sldLayoutId xmlns:r="http://schemas.openxmlformats.org/officeDocument/2006/relationships" id="2147483654" r:id="R52c7ca39a8374ec9"/>
    <p:sldLayoutId xmlns:r="http://schemas.openxmlformats.org/officeDocument/2006/relationships" id="2147483655" r:id="R9a1a1048319f45f2"/>
    <p:sldLayoutId xmlns:r="http://schemas.openxmlformats.org/officeDocument/2006/relationships" id="2147483656" r:id="Rb9ed5f3d490142ce"/>
    <p:sldLayoutId xmlns:r="http://schemas.openxmlformats.org/officeDocument/2006/relationships" id="2147483657" r:id="Rc9bdb133e95d4b71"/>
    <p:sldLayoutId xmlns:r="http://schemas.openxmlformats.org/officeDocument/2006/relationships" id="2147483658" r:id="R4f31b4a677d843d1"/>
    <p:sldLayoutId xmlns:r="http://schemas.openxmlformats.org/officeDocument/2006/relationships" id="2147483659" r:id="R4b784d6fad7e4c6c"/>
    <p:sldLayoutId xmlns:r="http://schemas.openxmlformats.org/officeDocument/2006/relationships" id="2147483660" r:id="R660a5e88bf684ced"/>
    <p:sldLayoutId xmlns:r="http://schemas.openxmlformats.org/officeDocument/2006/relationships" id="2147483661" r:id="R0cac44eee60d41fa"/>
    <p:sldLayoutId xmlns:r="http://schemas.openxmlformats.org/officeDocument/2006/relationships" id="2147483662" r:id="R882af1d20ce24ecb"/>
    <p:sldLayoutId xmlns:r="http://schemas.openxmlformats.org/officeDocument/2006/relationships" id="2147483663" r:id="R06dbb83466064c5b"/>
    <p:sldLayoutId xmlns:r="http://schemas.openxmlformats.org/officeDocument/2006/relationships" id="2147483664" r:id="R9fa02d333b2943aa"/>
    <p:sldLayoutId xmlns:r="http://schemas.openxmlformats.org/officeDocument/2006/relationships" id="2147483665" r:id="R29d4bd032e124ae2"/>
    <p:sldLayoutId xmlns:r="http://schemas.openxmlformats.org/officeDocument/2006/relationships" id="2147483666" r:id="R8af89d0c22dc4738"/>
    <p:sldLayoutId xmlns:r="http://schemas.openxmlformats.org/officeDocument/2006/relationships" id="2147483667" r:id="R46087169ba684720"/>
    <p:sldLayoutId xmlns:r="http://schemas.openxmlformats.org/officeDocument/2006/relationships" id="2147483668" r:id="Rd9017c8288a64a19"/>
    <p:sldLayoutId xmlns:r="http://schemas.openxmlformats.org/officeDocument/2006/relationships" id="2147483669" r:id="R5e5ba0bdfe1e4c5e"/>
    <p:sldLayoutId xmlns:r="http://schemas.openxmlformats.org/officeDocument/2006/relationships" id="2147483670" r:id="R91c80dda1226400d"/>
    <p:sldLayoutId xmlns:r="http://schemas.openxmlformats.org/officeDocument/2006/relationships" id="2147483671" r:id="R8873a4b591c14467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63d464f8a419f" /><Relationship Type="http://schemas.openxmlformats.org/officeDocument/2006/relationships/notesSlide" Target="/ppt/notesSlides/notesSlide1.xml" Id="R5e63f91a44b4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7d3c699d4977" /><Relationship Type="http://schemas.openxmlformats.org/officeDocument/2006/relationships/notesSlide" Target="/ppt/notesSlides/notesSlide2.xml" Id="Rd6ddf378a048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671760202473f" /><Relationship Type="http://schemas.openxmlformats.org/officeDocument/2006/relationships/chart" Target="/ppt/slides/charts/chart1.xml" Id="R59e2c38b8995496b" /><Relationship Type="http://schemas.openxmlformats.org/officeDocument/2006/relationships/notesSlide" Target="/ppt/notesSlides/notesSlide3.xml" Id="Rd864df8c7929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873d781134e6b" /><Relationship Type="http://schemas.openxmlformats.org/officeDocument/2006/relationships/notesSlide" Target="/ppt/notesSlides/notesSlide4.xml" Id="R97eab2c50fed43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09d421b6843f9" /><Relationship Type="http://schemas.openxmlformats.org/officeDocument/2006/relationships/notesSlide" Target="/ppt/notesSlides/notesSlide5.xml" Id="Re3c4357f99674e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f5feb90842ce" /><Relationship Type="http://schemas.openxmlformats.org/officeDocument/2006/relationships/notesSlide" Target="/ppt/notesSlides/notesSlide6.xml" Id="R1ee7f4a1c07648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1de6853734574" /><Relationship Type="http://schemas.openxmlformats.org/officeDocument/2006/relationships/notesSlide" Target="/ppt/notesSlides/notesSlide7.xml" Id="Rae904e1767654a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2e733511a4e2d" /><Relationship Type="http://schemas.openxmlformats.org/officeDocument/2006/relationships/notesSlide" Target="/ppt/notesSlides/notesSlide8.xml" Id="Rd5dac923eec249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250b34f644a2" /><Relationship Type="http://schemas.openxmlformats.org/officeDocument/2006/relationships/notesSlide" Target="/ppt/notesSlides/notesSlide9.xml" Id="R5ed8b560228940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e4f59fe1d4b9f" /><Relationship Type="http://schemas.openxmlformats.org/officeDocument/2006/relationships/notesSlide" Target="/ppt/notesSlides/notesSlide10.xml" Id="R619cfc307cb0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0fc2facc4ede" /><Relationship Type="http://schemas.openxmlformats.org/officeDocument/2006/relationships/notesSlide" Target="/ppt/notesSlides/notesSlide11.xml" Id="R32c664543fff47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Critical relationships</c:v>
          </c:tx>
          <c:spPr>
            <a:solidFill xmlns:a="http://schemas.openxmlformats.org/drawingml/2006/main">
              <a:srgbClr val="B77832"/>
            </a:solidFill>
          </c:spPr>
          <c:cat>
            <c:strLit>
              <c:ptCount val="6"/>
              <c:pt idx="0">
                <c:v>Enterprise identity provider</c:v>
              </c:pt>
              <c:pt idx="1">
                <c:v>Backup platform</c:v>
              </c:pt>
              <c:pt idx="2">
                <c:v>Clean-room recovery</c:v>
              </c:pt>
              <c:pt idx="3">
                <c:v>Database-management plane</c:v>
              </c:pt>
              <c:pt idx="4">
                <c:v>Payment approval</c:v>
              </c:pt>
              <c:pt idx="5">
                <c:v>Payment gateway</c:v>
              </c:pt>
            </c:strLit>
          </c:cat>
          <c:val>
            <c:numLit>
              <c:formatCode>General</c:formatCode>
              <c:ptCount val="6"/>
              <c:pt idx="0">
                <c:v>7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Declared critical relationships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E0DF2-74A4-44EA-9D70-85DBAEC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70CB6-8AAF-4B6D-94C7-859DD1A2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C2796-CA55-4759-9B4B-447F0E9E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8F5B9-962F-4A4E-B130-ED6353D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BD6"/>
                </a:solidFill>
              </a:defRPr>
            </a:pPr>
            <a:r>
              <a:rPr sz="900" b="1">
                <a:solidFill>
                  <a:srgbClr val="B8CBD6"/>
                </a:solidFill>
              </a:rPr>
              <a:t>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E7D8-466A-41D4-94D5-2695A2F0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4119A-A998-4C50-8976-2D02FBBD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8CBD6"/>
                </a:solidFill>
              </a:defRPr>
            </a:pPr>
            <a:r>
              <a:rPr sz="750" b="0">
                <a:solidFill>
                  <a:srgbClr val="B8CBD6"/>
                </a:solidFill>
              </a:rPr>
              <a:t>SYNTHETIC EXERCISE DATA - NOT A REAL BANK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7D9B8-54A7-441C-B9E7-343A301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Cyber Operational Resilience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8B0A3-8D29-4A44-AF89-EC9FC605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F6353-294D-4592-9B37-313AEE1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7DF"/>
                </a:solidFill>
              </a:defRPr>
            </a:pPr>
            <a:r>
              <a:rPr sz="1650" b="0">
                <a:solidFill>
                  <a:srgbClr val="C8D7DF"/>
                </a:solidFill>
              </a:rPr>
              <a:t>Explain service dependencies, control planes and trusted recovery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BE3A8-6872-4AD1-9582-3866C75D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832"/>
                </a:solidFill>
              </a:defRPr>
            </a:pPr>
            <a:r>
              <a:rPr sz="1050" b="1">
                <a:solidFill>
                  <a:srgbClr val="B77832"/>
                </a:solidFill>
              </a:rPr>
              <a:t>HARBOR RIDGE BANK | FICTIONAL DEMONSTRATION CLIENT</a:t>
            </a:r>
          </a:p>
        </p:txBody>
      </p:sp>
    </p:spTree>
    <p:extLst>
      <p:ext uri="{BB962C8B-B14F-4D97-AF65-F5344CB8AC3E}">
        <p14:creationId xmlns:p14="http://schemas.microsoft.com/office/powerpoint/2010/main" val="1986226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92C55-8EA1-4FEF-B687-D71BCBA2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785E4-FE64-4B27-B543-232F3FB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E8EEB-A64E-431E-BB2C-931B3B7F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CF22D-B18A-4AF6-B0D8-9737639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ARCHITECTURE PRINCIPLE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9D56-E999-4745-94EE-6942C3ED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13B75-8A06-435A-8ACF-C6AF8FC1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AE5A25-DE1D-4618-B8F3-44C9B2B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Critical services must be traced through authority and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514F1-EA88-49B3-B804-1C7505E8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Technical design starts with service tolerance, not infrastructure inventory.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46126-06D3-4562-83CD-65095EB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8C7E-2117-4666-AD57-7A0BF3C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8CF79-AE18-4D00-907E-52EF780A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C6FBD-2272-421D-8D77-2D73E32E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7FF2E-C4D1-4A1F-8E59-7D7953D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831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4E213-5F77-4135-A472-6E8DD67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577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B3E6E-32C4-43E8-8E67-12590CE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818EB-2378-45F9-9479-32C91D6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Customer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BE052-6493-44C8-89F4-D1C9611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FBB07-457D-479E-8EEC-7798A555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Money movement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23FC8-9E67-4938-956A-DCA03301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E77F4-3B88-49E5-A37A-C9C6A9D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Financial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7FD54-55C2-420E-BE50-59DF78A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CEFEB-BC2E-4344-8E33-F66EB17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124F8-8A22-428D-B3F8-98DB518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333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28575">
            <a:solidFill>
              <a:srgbClr val="B778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1EFB4-BDFD-43D1-A95A-3FD48D18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Enterprise identity provider: 7 declared critical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3798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D062D-CA42-444C-811D-3641D4F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3AC39-2AF1-47FC-8862-5309EDE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EF49D-61C4-43E0-853A-C5960A3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D31AD-576F-4FB6-BE63-C95D3C8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CONTROL PLANES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44749-AEC3-4AC4-9CCB-6ADA7E36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4D53A-6A4A-40BC-B13A-A3748830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C9169A-0D83-4216-A179-9B68440A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Enterprise identity holds the broadest declared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58C37-05E3-4FE4-A4E5-6F33C35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Seven critical relationships make identity the leading modeled concentration.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0100" y="2619375"/>
          <a:ext xmlns:a="http://schemas.openxmlformats.org/drawingml/2006/main" cx="7239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e2c38b8995496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E023E-6BBC-4C3C-B170-AA75E99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45CB7-F506-410B-B921-02D61B50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333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Identity is the largest modeled common-mode concentration. The count is evidence of dependency, not likelihood or loss.</a:t>
            </a:r>
          </a:p>
        </p:txBody>
      </p:sp>
    </p:spTree>
    <p:extLst>
      <p:ext uri="{BB962C8B-B14F-4D97-AF65-F5344CB8AC3E}">
        <p14:creationId xmlns:p14="http://schemas.microsoft.com/office/powerpoint/2010/main" val="1784028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0A8E4-44FB-4E71-BAE2-892074DC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CE192-F7E6-40D7-A321-2323A2DB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B170F-9006-42B3-8FC6-02E7FAF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B469C-F1FC-4389-9FA2-C1E03A4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TIER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C6598-407C-4B0F-BCB3-8CB1D6DE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9FBCF-6044-494B-91BF-5E5B21E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AFB1EC-7EC8-4126-9439-AE56219E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Tier 0 dependencies require evidence-backed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DE526-515E-4B34-9465-B06C09A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Broad authority, multi-service effect and trusted recovery determine candidacy.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1B2D4-D547-4899-86DB-E9AD128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11907-F581-4DB4-99E2-147584D7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Identity and privileged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714CC-2035-41BF-888B-DCA3E8E4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442BF-22E7-4181-8405-38175D95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DNS, certificates and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A1E13-DB50-435F-90E1-8EB3D23B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6FD73-752C-40E7-A0EA-2CCF89F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Network, cloud, virtualization and database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E5DAC-8EBA-4FF7-8CA5-FF2871AA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9AB95-7622-44A5-9696-C0AFEBA1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Backup and recovery orchestration</a:t>
            </a:r>
          </a:p>
        </p:txBody>
      </p:sp>
    </p:spTree>
    <p:extLst>
      <p:ext uri="{BB962C8B-B14F-4D97-AF65-F5344CB8AC3E}">
        <p14:creationId xmlns:p14="http://schemas.microsoft.com/office/powerpoint/2010/main" val="412642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67950-770A-4E74-8BDE-E64FA84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2B3C-DC6B-40CC-8F84-09D3B849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D872-EE4B-421E-B898-FB59B58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BCC50-9C45-4630-83EA-9C2EB750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COMMON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D6BA7-7602-407A-862A-C7FFCFFB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9F19A-9928-4E5C-ADA8-8EA88731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E11F82-0FAA-4D95-A397-DB64565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Shared identity and administration can defeat component redundancy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5090F-2C40-429A-BD4B-6B098DE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Redundant applications remain exposed when the same authority controls both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3AF0D-F159-46DE-9304-5428C5A1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Component redundancy is not control-plane independence.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ECD1-BB69-4D1F-946E-965F45B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23AC8-E8C2-4482-BF80-EC6850A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28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B7D"/>
                </a:solidFill>
              </a:defRPr>
            </a:pPr>
            <a:r>
              <a:rPr sz="1500" b="1">
                <a:solidFill>
                  <a:srgbClr val="315B7D"/>
                </a:solidFill>
              </a:rPr>
              <a:t>Test administrative separation and break-glass authority.</a:t>
            </a:r>
          </a:p>
        </p:txBody>
      </p:sp>
    </p:spTree>
    <p:extLst>
      <p:ext uri="{BB962C8B-B14F-4D97-AF65-F5344CB8AC3E}">
        <p14:creationId xmlns:p14="http://schemas.microsoft.com/office/powerpoint/2010/main" val="1323484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71D66-8D86-4599-8389-27AF293D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FD70C-2A6C-4F81-BFEA-DF49D5D3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6020E-E1BE-484B-AC09-357E27C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B670E-1C83-4A57-BDEA-EB48E2F6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6309C-80EC-4087-86B5-5A002AEC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AEDDC-ADBD-44E1-9858-3AA9F12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8984F0-6AA5-4B78-974D-5101EC28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 deployed tool is not the same as tested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79BC3-120C-4EC0-A50C-41E5CAE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Coverage progresses through configuration, telemetry, detection testing, response integration and recovery visibility.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60D0D-94C4-4F05-A32D-02B96C07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Independent Tier 0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BA6F7-2DF1-4B74-B39C-7604AFFF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62CF6-2956-41F7-8BA8-8234663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A97CF-DE40-4791-9E1E-76D1020D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F7735-9976-479F-B527-958E965F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Privilege-disable decision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AA28D-7697-48AD-B2BA-71CE1A1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CE2D2-4024-44D4-966A-5B5F8AC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DA153-FEEA-4BFC-AFAD-D843891D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AB11B-32E9-4FB2-A57C-9192B4C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Unreconciled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50DF9-4679-425C-9CFF-6267833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B29C8-A8DC-4385-8422-4E0CA71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31EB6-F4EC-4A44-8925-5DB29347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8BCE1-6552-436B-A89E-B4E738F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Third-party substitution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1AA38-F1E3-4C3A-90A4-78206F99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035D0-C6E0-49F3-96B9-3283AC9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F937D-57A5-4A57-B9B1-755AD65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</p:spTree>
    <p:extLst>
      <p:ext uri="{BB962C8B-B14F-4D97-AF65-F5344CB8AC3E}">
        <p14:creationId xmlns:p14="http://schemas.microsoft.com/office/powerpoint/2010/main" val="692066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4E036-7F69-40E4-ADCC-7AB1B2A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2858-463D-4558-AD1B-31892D6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EA745-B52C-4463-A122-9A02E1ED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6907C-A0D4-4F8A-BA70-33D9ADDA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75E3A-2867-43D2-8438-D5B6AC8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F838F-BB49-46FD-9013-99C785F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E730-769A-4494-8FF4-37EF744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Recovery design must separate availability from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18ABC-CC4C-4361-B99F-8903127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Journal, ledger and reconciliation evidence determine whether restored service is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40520-DF5B-4558-8B08-3A981F0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3"/>
          </a:solidFill>
          <a:ln xmlns:a="http://schemas.openxmlformats.org/drawingml/2006/main" w="1905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A4031-B9AE-41DC-BF48-66ABDCD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8C82"/>
                </a:solidFill>
              </a:defRPr>
            </a:pPr>
            <a:r>
              <a:rPr sz="1500" b="1">
                <a:solidFill>
                  <a:srgbClr val="118C82"/>
                </a:solidFill>
              </a:rPr>
              <a:t>KEEP CHANNEL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E07C9-5C27-432D-BC95-662958E6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Preserves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May increase unreconciled transactions and customer harm if data cannot be trusted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7737C-CED2-4925-ABCF-DA9E210E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BE641-833D-44E1-8BFD-83CDDFE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7832"/>
                </a:solidFill>
              </a:defRPr>
            </a:pPr>
            <a:r>
              <a:rPr sz="1500" b="1">
                <a:solidFill>
                  <a:srgbClr val="B77832"/>
                </a:solidFill>
              </a:rPr>
              <a:t>SUSPEND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98F8F-F9CD-48CE-88EF-B03FA57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Limits questionable posting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Creates immediate service disruption and manual-processing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59133-7C6E-48BA-8CF6-BF91CB7F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Decision evidence: journal integrity, independent reconciliation, customer harm and settlement obligations</a:t>
            </a:r>
          </a:p>
        </p:txBody>
      </p:sp>
    </p:spTree>
    <p:extLst>
      <p:ext uri="{BB962C8B-B14F-4D97-AF65-F5344CB8AC3E}">
        <p14:creationId xmlns:p14="http://schemas.microsoft.com/office/powerpoint/2010/main" val="1265150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D0B95-AC17-4A56-B4FD-B0C0AEC0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A54D2-01E4-4982-BBC9-15C7920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7AA3A-5E26-40FB-9BB6-F5E66F76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5F4E8-A9A3-493A-AC16-08BE61A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CURRENT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31998-8EF2-4642-A7C5-DE4CF632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EAFD9-13AA-4EC0-B0A4-835F91B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55D096-671D-4879-B9E3-5D54513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Production control planes remain implicit recovery prerequisites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67B99-FD2E-4F53-9372-F1BFC29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The current state can reproduce compromised authority or corrupted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0E70E-ABEE-4C70-B069-3A2C200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3D40"/>
                </a:solidFill>
              </a:defRPr>
            </a:pPr>
            <a:r>
              <a:rPr sz="1350" b="1">
                <a:solidFill>
                  <a:srgbClr val="A63D40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7324D-927A-4C00-918E-89A61C3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7A5B"/>
                </a:solidFill>
              </a:defRPr>
            </a:pPr>
            <a:r>
              <a:rPr sz="1350" b="1">
                <a:solidFill>
                  <a:srgbClr val="337A5B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DCB36-423D-4C19-A791-5DA43F6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7FA70-A857-4270-A900-173CC566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18D32-0333-4E43-AD33-F01D92E5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718E7-8077-41EB-83CB-4A24E14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DNS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A5E85-7444-4442-B42A-FACFFA8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68FD8-C84A-421F-AF68-D7AD89A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Replicated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2BFFB-2286-4FAB-9401-34135FE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27689-3DB6-452A-9EA8-8909D96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Shared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F2B6E-5955-4E5B-B0B6-0A644A61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9E9DF-D570-4E84-81C1-1D738B81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recovery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3D109-BE33-4249-AB90-4C99A3A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57230-493D-455D-953F-497F329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name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E89D3-1691-44CE-B794-E22CF26D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58E7F-E077-44CF-810D-43055C2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Offline integrity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AE1D7-C7D1-4866-BEE8-835FD9D5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12492-D860-4E3C-B116-E2ED8D65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Recovery-visible telemetry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6073EF-DC83-419F-B3B2-B8A8D6D2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57625"/>
            <a:ext cx="1428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5344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92662-4B3E-44FD-A6D8-F91AE1E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A30F2-DA8E-4271-A120-4F6B6B8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D73E0-3BE8-493F-831E-7364E5C7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6A2B5-7CD4-4322-AA34-40A7CA0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RECOVERY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8AB13-96D5-4DDE-B40D-0783E03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8A319-A681-458F-8E03-B7F2A83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8F739-8BDC-4B17-A10D-BAA0FC2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Clean authority must precede data 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2C593-9229-430E-84AD-6D1C00A2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Independent DNS, offline evidence and recovery telemetry support trusted service restoration.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C0206-DCA2-42F9-85AB-0FAB85A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832"/>
                </a:solidFill>
              </a:defRPr>
            </a:pPr>
            <a:r>
              <a:rPr sz="1125" b="1">
                <a:solidFill>
                  <a:srgbClr val="B77832"/>
                </a:solidFill>
              </a:rPr>
              <a:t>0-90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5D061-F8BB-4368-BF3C-D34F3CEB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BDCEB-DAC4-4DAF-8D29-6C4AEDE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Approve Tier 0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Freeze unmanaged privilege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Validate clean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8EBF2-6709-4EEA-9926-F41D043E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1DE11-3B26-4B3A-BE12-FE73451B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NEXT 2 QUARTERS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869A0-55F1-451C-AD53-B8A5BAB4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7215A-8534-4DC4-B553-6BD977C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Independent recovery identity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Immutable evidence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Manual payments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D16E7-363B-4C95-81FE-200179F2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BCB12-17D8-47AD-9460-0A20DB3B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ONE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AC637-A50B-453D-8D51-7FD48030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16A47-B5C0-4FBA-8244-BA1A185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Provider substitution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Carrier diversity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Enterprise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77354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EC512-4C88-44F6-99B2-BFDDACB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280A-565C-4392-B9B4-9D49164F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3B89-9500-44C7-91EF-0E73A21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48D5E-EF15-4206-92B1-05D96DE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58E9F-097F-4804-8492-520E10C3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9A343-EC09-4452-81C7-D052ECC5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7522C-7A20-42BE-9D2A-F155485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Architecture acceptance requires service-level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DC3AC-68EC-43B7-A1D3-F023882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Each test must connect a dependency, control, result, limitation and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304EE-1C23-46E8-8B40-23D40CC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723A3-3DD6-448C-BA00-A868BF7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Recover with production identity unavailable.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4942D-5C90-41DF-AECD-F44F9CD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763C1-CE97-4E0A-B845-D7B2BED1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Investigate without the production monitoring plane.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C758D-F78D-4259-A726-B0D9EC1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3C4B0-F508-4ADB-9867-4797855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Validate the journal before service restoration.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A4C8B-3600-444F-A031-7D376C1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9AA44-D2CF-47D0-BE30-59EB69F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Demonstrate minimum viable payment capacity.</a:t>
            </a:r>
          </a:p>
        </p:txBody>
      </p:sp>
    </p:spTree>
    <p:extLst>
      <p:ext uri="{BB962C8B-B14F-4D97-AF65-F5344CB8AC3E}">
        <p14:creationId xmlns:p14="http://schemas.microsoft.com/office/powerpoint/2010/main" val="21001419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83E55-0649-4383-9E4D-6E7185A1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C617F-D2B4-4393-BBAE-A18DDF78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E55B5-20DB-438F-9E75-49482F0A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00388-CC18-4400-803F-F7F483B3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6144-C0FB-4EAB-AB4D-6B00788F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4D2DF-F97A-460A-8117-9FE9E2C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E9B044-75AD-46CE-B40C-869638AA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Design decisions should remove common modes before adding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604E-80EB-4F52-B19B-925D013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Prioritize isolation, independent evidence and tested substitution.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0196D-E061-400D-84C8-A64E6B4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57260-2F20-4D0C-94EF-7F3ECF3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Approve target recovery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3A76A-D717-4738-A16D-DE9C67B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003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DFBD8-0ED4-417A-9841-ED9EA29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289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F04BF-0750-4E7D-B403-E41A549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358F-188C-4326-BC96-7A93A19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Assign technical owners and alternates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81E31-7AC1-4A9E-8E34-6A581E15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0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97691-7207-4D4B-BAA6-8F83EFF5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290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5C568-ECFF-458E-89C1-D16D3369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59C49-2C4E-4E7C-8E9A-64BF4C4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Schedule evidence-based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4D20E-D054-47A2-8BED-CD77615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94BBF-9A8D-4C6E-8516-F435AAF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29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</p:spTree>
    <p:extLst>
      <p:ext uri="{BB962C8B-B14F-4D97-AF65-F5344CB8AC3E}">
        <p14:creationId xmlns:p14="http://schemas.microsoft.com/office/powerpoint/2010/main" val="67550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2026-08-12T21:13:56.3810000Z</dcterms:created>
  <dcterms:modified xsi:type="dcterms:W3CDTF">2026-08-12T21:13:56.3810000Z</dcterms:modified>
</coreProperties>
</file>